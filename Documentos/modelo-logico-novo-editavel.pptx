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650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134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C8A61D-75A4-4250-A3D7-90837AB0223A}" type="datetimeFigureOut">
              <a:rPr lang="pt-BR" smtClean="0"/>
              <a:t>31/10/2025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BD5C29-E545-4056-844C-5103F9F721A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104967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4800E4-B2E6-1F60-0B69-0685DE0AF9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0F9432A-B0D4-2C27-F638-8241C3FA5B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BC3E133-9791-D301-DC5A-404FE800EB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24803C-8662-4C8D-A801-AD41A5B36333}" type="datetimeFigureOut">
              <a:rPr lang="pt-BR" smtClean="0"/>
              <a:t>31/10/2025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AC6241A-C428-541C-7F4C-1392A566BE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270AC75-79F0-5C59-A756-F047FD732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1714D8-2BD8-460B-8F26-07209BE7890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902951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59A831D-EBA7-7E96-6F8D-2935C289D2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7F5D902-C233-C6B9-0FF9-43E101ECCA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3365270-45A8-29E5-EE5C-15C813E9A1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24803C-8662-4C8D-A801-AD41A5B36333}" type="datetimeFigureOut">
              <a:rPr lang="pt-BR" smtClean="0"/>
              <a:t>31/10/2025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99B65DD-02CC-A88A-510F-2200357FCA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532712D-9966-DE8C-6DB2-64697570CF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1714D8-2BD8-460B-8F26-07209BE7890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179812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1CABC4-E34B-CBCD-81E5-9F76DBD40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6EF314E-43F0-C81E-A755-EBEAE8A46E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F2B5566-6810-4597-45CB-8048DAA6EC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24803C-8662-4C8D-A801-AD41A5B36333}" type="datetimeFigureOut">
              <a:rPr lang="pt-BR" smtClean="0"/>
              <a:t>31/10/2025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0715125-8943-5422-B654-A4F820F7F7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02F642F-4F12-1D1D-BF16-D23B4CC601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1714D8-2BD8-460B-8F26-07209BE7890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071850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F103EC-95F7-F3E0-7D49-7F7429B3C8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DAB7FE8-3F5D-6B52-9834-9EB514913EF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5DE1463-BCE1-D38E-F5B8-D634D4DCD1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C53484C-FB2F-29BC-CF74-C7B0BD5C63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24803C-8662-4C8D-A801-AD41A5B36333}" type="datetimeFigureOut">
              <a:rPr lang="pt-BR" smtClean="0"/>
              <a:t>31/10/2025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8E978CA-B8E0-E706-EC49-8F0532D596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591BE55-9823-C2BA-9154-6A1640F850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1714D8-2BD8-460B-8F26-07209BE7890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254838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A5A100-2C24-E93C-D3BC-74AD8C39EE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3EE1DB9-E76D-B152-68C3-C2C2A649DD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6C216AD-DB51-9D88-307D-39811AE2D1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13781C33-6B94-9038-C50E-9DA3B65196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CCF3D2E9-D0ED-C87F-D028-EA0B061800F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AE6D9893-AF3A-128A-2CDC-B172EA973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24803C-8662-4C8D-A801-AD41A5B36333}" type="datetimeFigureOut">
              <a:rPr lang="pt-BR" smtClean="0"/>
              <a:t>31/10/2025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3EE8E906-66E1-8E5B-38CC-0CB8C76619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389DF1D4-DE77-F1BE-75F4-6EBE2CB27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1714D8-2BD8-460B-8F26-07209BE7890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642710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15BA8D-7303-9CAB-BB28-39F52E9CF3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E4D929EA-E667-3010-8B5A-4DC5A89C04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24803C-8662-4C8D-A801-AD41A5B36333}" type="datetimeFigureOut">
              <a:rPr lang="pt-BR" smtClean="0"/>
              <a:t>31/10/2025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DAC76538-64DD-72A9-042A-3EF176BC9E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AEDB083C-E5BD-9DD1-57B8-DA2DB8DFAA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1714D8-2BD8-460B-8F26-07209BE7890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940266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761CC6FB-0501-E27A-0F23-C362F57A8B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24803C-8662-4C8D-A801-AD41A5B36333}" type="datetimeFigureOut">
              <a:rPr lang="pt-BR" smtClean="0"/>
              <a:t>31/10/2025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81DA48A0-BFBC-D0F3-54AE-52AAA027C0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983F92D-D56D-CB08-15EE-AC4CE848D0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1714D8-2BD8-460B-8F26-07209BE7890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211335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12F00D-2272-DA49-6354-ED1B674629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BC39577-1299-1135-3CCA-4B21ABD9FA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EF075A6-A033-1FE2-93B8-8EE00B2F7E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E341208-EDC5-D808-0F1B-8E5E398727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24803C-8662-4C8D-A801-AD41A5B36333}" type="datetimeFigureOut">
              <a:rPr lang="pt-BR" smtClean="0"/>
              <a:t>31/10/2025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3B809AA-172D-4017-8474-BDB8F5E061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0613ED8-663D-52C5-16E0-F05654E4F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1714D8-2BD8-460B-8F26-07209BE7890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610028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6385BD-D454-ADB0-0AAB-B89BD30462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930AAEA3-9B88-DA56-418B-911CECB2857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C8F5615-5987-77BA-8F85-FC92FFA603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51A0EA9-5320-B254-B185-DD52C11291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24803C-8662-4C8D-A801-AD41A5B36333}" type="datetimeFigureOut">
              <a:rPr lang="pt-BR" smtClean="0"/>
              <a:t>31/10/2025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0032BAC-3E8C-B1E2-8E89-E09DE72D3E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83FC393-8F12-EF95-C755-BFE1B6D5BA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1714D8-2BD8-460B-8F26-07209BE7890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199868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E666CA3-7A23-3AC4-62D9-9D8554907B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62AD649-0D3C-DD08-D9E1-6839711DA0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F329D75-D1FD-0A56-4CB6-FA95B4E3EC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24803C-8662-4C8D-A801-AD41A5B36333}" type="datetimeFigureOut">
              <a:rPr lang="pt-BR" smtClean="0"/>
              <a:t>31/10/2025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447A65B-9371-0962-4328-96A317680F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ECE5CE8-0A5E-33B6-250F-C940990B5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1714D8-2BD8-460B-8F26-07209BE7890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195042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3A1FE93C-FA29-B200-8A00-76D1CA488BF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CD37163-6A28-F0A0-6EDE-42D5E2BA55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21F835F-7A2B-58D6-1F69-A79E7959F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24803C-8662-4C8D-A801-AD41A5B36333}" type="datetimeFigureOut">
              <a:rPr lang="pt-BR" smtClean="0"/>
              <a:t>31/10/2025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ACC2526-8EAE-9D85-0A75-EBE0A10230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20451CF-BFC9-072E-FD25-D0EAF2AF03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1714D8-2BD8-460B-8F26-07209BE7890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564922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FB93AAEE-DC75-4151-9908-C6B3936716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51F4005-6187-8FB2-1B4C-480CC8AC64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EAD248C-A686-6D14-8B4D-673FF1FEA57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24803C-8662-4C8D-A801-AD41A5B36333}" type="datetimeFigureOut">
              <a:rPr lang="pt-BR" smtClean="0"/>
              <a:t>31/10/2025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E631CF2-035C-B07F-EEE0-3D1D6C005C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D43B8E7-AF4A-E40A-5827-9DBFED2931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1714D8-2BD8-460B-8F26-07209BE7890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662093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B03255CD-CDE9-FCC9-FBA9-D57B9DCC38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9083690"/>
              </p:ext>
            </p:extLst>
          </p:nvPr>
        </p:nvGraphicFramePr>
        <p:xfrm>
          <a:off x="131853" y="84389"/>
          <a:ext cx="1831789" cy="1243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31789">
                  <a:extLst>
                    <a:ext uri="{9D8B030D-6E8A-4147-A177-3AD203B41FA5}">
                      <a16:colId xmlns:a16="http://schemas.microsoft.com/office/drawing/2014/main" val="2252721451"/>
                    </a:ext>
                  </a:extLst>
                </a:gridCol>
              </a:tblGrid>
              <a:tr h="310950">
                <a:tc>
                  <a:txBody>
                    <a:bodyPr/>
                    <a:lstStyle/>
                    <a:p>
                      <a:r>
                        <a:rPr lang="pt-BR" sz="1200" b="1" dirty="0"/>
                        <a:t>Telefone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7503110"/>
                  </a:ext>
                </a:extLst>
              </a:tr>
              <a:tr h="310950">
                <a:tc>
                  <a:txBody>
                    <a:bodyPr/>
                    <a:lstStyle/>
                    <a:p>
                      <a:r>
                        <a:rPr lang="pt-BR" sz="1200" b="1" dirty="0" err="1"/>
                        <a:t>cod_telefone</a:t>
                      </a:r>
                      <a:r>
                        <a:rPr lang="pt-BR" sz="1200" b="1" dirty="0"/>
                        <a:t>: Número(4)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1657282"/>
                  </a:ext>
                </a:extLst>
              </a:tr>
              <a:tr h="310950">
                <a:tc>
                  <a:txBody>
                    <a:bodyPr/>
                    <a:lstStyle/>
                    <a:p>
                      <a:r>
                        <a:rPr lang="pt-BR" sz="1200" b="1" dirty="0" err="1"/>
                        <a:t>ddd</a:t>
                      </a:r>
                      <a:r>
                        <a:rPr lang="pt-BR" sz="1200" b="1" dirty="0"/>
                        <a:t>: Número(4)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2949377"/>
                  </a:ext>
                </a:extLst>
              </a:tr>
              <a:tr h="310950">
                <a:tc>
                  <a:txBody>
                    <a:bodyPr/>
                    <a:lstStyle/>
                    <a:p>
                      <a:r>
                        <a:rPr lang="pt-BR" sz="1200" b="1" dirty="0"/>
                        <a:t>Numero: Número(9)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2667237"/>
                  </a:ext>
                </a:extLst>
              </a:tr>
            </a:tbl>
          </a:graphicData>
        </a:graphic>
      </p:graphicFrame>
      <p:graphicFrame>
        <p:nvGraphicFramePr>
          <p:cNvPr id="7" name="Tabela 6">
            <a:extLst>
              <a:ext uri="{FF2B5EF4-FFF2-40B4-BE49-F238E27FC236}">
                <a16:creationId xmlns:a16="http://schemas.microsoft.com/office/drawing/2014/main" id="{1D05AC7B-DD59-ABD8-0EA3-BC2CF1AF17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301099"/>
              </p:ext>
            </p:extLst>
          </p:nvPr>
        </p:nvGraphicFramePr>
        <p:xfrm>
          <a:off x="89266" y="1622432"/>
          <a:ext cx="1903508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3508">
                  <a:extLst>
                    <a:ext uri="{9D8B030D-6E8A-4147-A177-3AD203B41FA5}">
                      <a16:colId xmlns:a16="http://schemas.microsoft.com/office/drawing/2014/main" val="2252721451"/>
                    </a:ext>
                  </a:extLst>
                </a:gridCol>
              </a:tblGrid>
              <a:tr h="270222">
                <a:tc>
                  <a:txBody>
                    <a:bodyPr/>
                    <a:lstStyle/>
                    <a:p>
                      <a:r>
                        <a:rPr lang="pt-BR" sz="1200" b="1" i="0" dirty="0"/>
                        <a:t>Empresa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7503110"/>
                  </a:ext>
                </a:extLst>
              </a:tr>
              <a:tr h="270222">
                <a:tc>
                  <a:txBody>
                    <a:bodyPr/>
                    <a:lstStyle/>
                    <a:p>
                      <a:r>
                        <a:rPr lang="pt-BR" sz="1200" b="1" i="0" dirty="0" err="1"/>
                        <a:t>cnpj</a:t>
                      </a:r>
                      <a:r>
                        <a:rPr lang="pt-BR" sz="1200" b="1" i="0" dirty="0"/>
                        <a:t>: Número(14)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1657282"/>
                  </a:ext>
                </a:extLst>
              </a:tr>
              <a:tr h="27022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1" i="0" dirty="0" err="1"/>
                        <a:t>cod_usuario</a:t>
                      </a:r>
                      <a:r>
                        <a:rPr lang="pt-BR" sz="1200" b="1" i="0" dirty="0"/>
                        <a:t>: Número(4)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8102375"/>
                  </a:ext>
                </a:extLst>
              </a:tr>
              <a:tr h="270222">
                <a:tc>
                  <a:txBody>
                    <a:bodyPr/>
                    <a:lstStyle/>
                    <a:p>
                      <a:r>
                        <a:rPr lang="pt-BR" sz="1200" b="1" i="0" dirty="0" err="1"/>
                        <a:t>cod_endereco</a:t>
                      </a:r>
                      <a:r>
                        <a:rPr lang="pt-BR" sz="1200" b="1" i="0" dirty="0"/>
                        <a:t>: Número(4)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2949377"/>
                  </a:ext>
                </a:extLst>
              </a:tr>
              <a:tr h="270222">
                <a:tc>
                  <a:txBody>
                    <a:bodyPr/>
                    <a:lstStyle/>
                    <a:p>
                      <a:r>
                        <a:rPr lang="pt-BR" sz="1200" b="1" i="0" dirty="0" err="1"/>
                        <a:t>cod_pag</a:t>
                      </a:r>
                      <a:r>
                        <a:rPr lang="pt-BR" sz="1200" b="1" i="0" dirty="0"/>
                        <a:t>: Número(4)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2667237"/>
                  </a:ext>
                </a:extLst>
              </a:tr>
              <a:tr h="270222">
                <a:tc>
                  <a:txBody>
                    <a:bodyPr/>
                    <a:lstStyle/>
                    <a:p>
                      <a:r>
                        <a:rPr lang="pt-BR" sz="1200" b="1" i="0" dirty="0" err="1"/>
                        <a:t>razao_social:varchar</a:t>
                      </a:r>
                      <a:endParaRPr lang="pt-BR" sz="1200" b="1" i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9517879"/>
                  </a:ext>
                </a:extLst>
              </a:tr>
              <a:tr h="270222">
                <a:tc>
                  <a:txBody>
                    <a:bodyPr/>
                    <a:lstStyle/>
                    <a:p>
                      <a:r>
                        <a:rPr lang="pt-BR" sz="1200" b="1" i="0" dirty="0" err="1"/>
                        <a:t>nomefantasia</a:t>
                      </a:r>
                      <a:r>
                        <a:rPr lang="pt-BR" sz="1200" b="1" i="0" dirty="0"/>
                        <a:t>: varchar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5903544"/>
                  </a:ext>
                </a:extLst>
              </a:tr>
            </a:tbl>
          </a:graphicData>
        </a:graphic>
      </p:graphicFrame>
      <p:graphicFrame>
        <p:nvGraphicFramePr>
          <p:cNvPr id="8" name="Tabela 7">
            <a:extLst>
              <a:ext uri="{FF2B5EF4-FFF2-40B4-BE49-F238E27FC236}">
                <a16:creationId xmlns:a16="http://schemas.microsoft.com/office/drawing/2014/main" id="{B8CBE8A8-1A6A-D6C4-4C33-3CECF00BC7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860665"/>
              </p:ext>
            </p:extLst>
          </p:nvPr>
        </p:nvGraphicFramePr>
        <p:xfrm>
          <a:off x="131854" y="3873324"/>
          <a:ext cx="1831788" cy="15029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31788">
                  <a:extLst>
                    <a:ext uri="{9D8B030D-6E8A-4147-A177-3AD203B41FA5}">
                      <a16:colId xmlns:a16="http://schemas.microsoft.com/office/drawing/2014/main" val="225272145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pt-BR" sz="1200" b="1" dirty="0"/>
                        <a:t>pagamento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7503110"/>
                  </a:ext>
                </a:extLst>
              </a:tr>
              <a:tr h="307164">
                <a:tc>
                  <a:txBody>
                    <a:bodyPr/>
                    <a:lstStyle/>
                    <a:p>
                      <a:r>
                        <a:rPr lang="pt-BR" sz="1200" b="1" dirty="0" err="1"/>
                        <a:t>cod_pag</a:t>
                      </a:r>
                      <a:r>
                        <a:rPr lang="pt-BR" sz="1200" b="1" dirty="0"/>
                        <a:t>: Número(4)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1657282"/>
                  </a:ext>
                </a:extLst>
              </a:tr>
              <a:tr h="30716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1" dirty="0" err="1"/>
                        <a:t>cod_tipo_pag</a:t>
                      </a:r>
                      <a:r>
                        <a:rPr lang="pt-BR" sz="1200" b="1" dirty="0"/>
                        <a:t>: Número(4)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8102375"/>
                  </a:ext>
                </a:extLst>
              </a:tr>
              <a:tr h="307164">
                <a:tc>
                  <a:txBody>
                    <a:bodyPr/>
                    <a:lstStyle/>
                    <a:p>
                      <a:r>
                        <a:rPr lang="pt-BR" sz="1200" b="1" dirty="0" err="1"/>
                        <a:t>valor_pag</a:t>
                      </a:r>
                      <a:r>
                        <a:rPr lang="pt-BR" sz="1200" b="1" dirty="0"/>
                        <a:t>: Número(10)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2949377"/>
                  </a:ext>
                </a:extLst>
              </a:tr>
              <a:tr h="307164">
                <a:tc>
                  <a:txBody>
                    <a:bodyPr/>
                    <a:lstStyle/>
                    <a:p>
                      <a:r>
                        <a:rPr lang="pt-BR" sz="1200" b="1" dirty="0" err="1"/>
                        <a:t>Data_pag</a:t>
                      </a:r>
                      <a:r>
                        <a:rPr lang="pt-BR" sz="1200" b="1" dirty="0"/>
                        <a:t>: date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2667237"/>
                  </a:ext>
                </a:extLst>
              </a:tr>
            </a:tbl>
          </a:graphicData>
        </a:graphic>
      </p:graphicFrame>
      <p:graphicFrame>
        <p:nvGraphicFramePr>
          <p:cNvPr id="9" name="Tabela 8">
            <a:extLst>
              <a:ext uri="{FF2B5EF4-FFF2-40B4-BE49-F238E27FC236}">
                <a16:creationId xmlns:a16="http://schemas.microsoft.com/office/drawing/2014/main" id="{FBBC53E6-DC44-9CE3-BCF9-FFE3F34593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492381"/>
              </p:ext>
            </p:extLst>
          </p:nvPr>
        </p:nvGraphicFramePr>
        <p:xfrm>
          <a:off x="104586" y="5674755"/>
          <a:ext cx="2082801" cy="888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1">
                  <a:extLst>
                    <a:ext uri="{9D8B030D-6E8A-4147-A177-3AD203B41FA5}">
                      <a16:colId xmlns:a16="http://schemas.microsoft.com/office/drawing/2014/main" val="2252721451"/>
                    </a:ext>
                  </a:extLst>
                </a:gridCol>
              </a:tblGrid>
              <a:tr h="199914">
                <a:tc>
                  <a:txBody>
                    <a:bodyPr/>
                    <a:lstStyle/>
                    <a:p>
                      <a:r>
                        <a:rPr lang="pt-BR" sz="1200" b="1" dirty="0" err="1"/>
                        <a:t>tipo_pagamento</a:t>
                      </a:r>
                      <a:endParaRPr lang="pt-BR" sz="12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7503110"/>
                  </a:ext>
                </a:extLst>
              </a:tr>
              <a:tr h="307164">
                <a:tc>
                  <a:txBody>
                    <a:bodyPr/>
                    <a:lstStyle/>
                    <a:p>
                      <a:r>
                        <a:rPr lang="pt-BR" sz="1200" b="1" dirty="0" err="1"/>
                        <a:t>cod_tipopag</a:t>
                      </a:r>
                      <a:r>
                        <a:rPr lang="pt-BR" sz="1200" b="1" dirty="0"/>
                        <a:t>: Número(4)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1657282"/>
                  </a:ext>
                </a:extLst>
              </a:tr>
              <a:tr h="30716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1" dirty="0" err="1"/>
                        <a:t>desc_pagamento</a:t>
                      </a:r>
                      <a:r>
                        <a:rPr lang="pt-BR" sz="1200" b="1" dirty="0"/>
                        <a:t>: Número(4)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8102375"/>
                  </a:ext>
                </a:extLst>
              </a:tr>
            </a:tbl>
          </a:graphicData>
        </a:graphic>
      </p:graphicFrame>
      <p:graphicFrame>
        <p:nvGraphicFramePr>
          <p:cNvPr id="11" name="Tabela 10">
            <a:extLst>
              <a:ext uri="{FF2B5EF4-FFF2-40B4-BE49-F238E27FC236}">
                <a16:creationId xmlns:a16="http://schemas.microsoft.com/office/drawing/2014/main" id="{3568C8D8-42D0-0B03-5337-475EFA9F70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3715557"/>
              </p:ext>
            </p:extLst>
          </p:nvPr>
        </p:nvGraphicFramePr>
        <p:xfrm>
          <a:off x="2938930" y="5283307"/>
          <a:ext cx="1831788" cy="15029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31788">
                  <a:extLst>
                    <a:ext uri="{9D8B030D-6E8A-4147-A177-3AD203B41FA5}">
                      <a16:colId xmlns:a16="http://schemas.microsoft.com/office/drawing/2014/main" val="225272145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pt-BR" sz="1200" b="1" dirty="0" err="1"/>
                        <a:t>Cartao</a:t>
                      </a:r>
                      <a:endParaRPr lang="pt-BR" sz="12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7503110"/>
                  </a:ext>
                </a:extLst>
              </a:tr>
              <a:tr h="307164">
                <a:tc>
                  <a:txBody>
                    <a:bodyPr/>
                    <a:lstStyle/>
                    <a:p>
                      <a:r>
                        <a:rPr lang="pt-BR" sz="1200" b="1" dirty="0" err="1"/>
                        <a:t>cod_cartao</a:t>
                      </a:r>
                      <a:r>
                        <a:rPr lang="pt-BR" sz="1200" b="1" dirty="0"/>
                        <a:t>: Número(4)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1657282"/>
                  </a:ext>
                </a:extLst>
              </a:tr>
              <a:tr h="30716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1" dirty="0" err="1"/>
                        <a:t>cod_tipo_ct</a:t>
                      </a:r>
                      <a:r>
                        <a:rPr lang="pt-BR" sz="1200" b="1" dirty="0"/>
                        <a:t>: Número(4)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8102375"/>
                  </a:ext>
                </a:extLst>
              </a:tr>
              <a:tr h="307164">
                <a:tc>
                  <a:txBody>
                    <a:bodyPr/>
                    <a:lstStyle/>
                    <a:p>
                      <a:r>
                        <a:rPr lang="pt-BR" sz="1200" b="1" dirty="0"/>
                        <a:t>numero: Número(16)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2949377"/>
                  </a:ext>
                </a:extLst>
              </a:tr>
              <a:tr h="307164">
                <a:tc>
                  <a:txBody>
                    <a:bodyPr/>
                    <a:lstStyle/>
                    <a:p>
                      <a:r>
                        <a:rPr lang="pt-BR" sz="1200" b="1" dirty="0" err="1"/>
                        <a:t>cvv</a:t>
                      </a:r>
                      <a:r>
                        <a:rPr lang="pt-BR" sz="1200" b="1" dirty="0"/>
                        <a:t>: Número(3)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2667237"/>
                  </a:ext>
                </a:extLst>
              </a:tr>
            </a:tbl>
          </a:graphicData>
        </a:graphic>
      </p:graphicFrame>
      <p:graphicFrame>
        <p:nvGraphicFramePr>
          <p:cNvPr id="12" name="Tabela 11">
            <a:extLst>
              <a:ext uri="{FF2B5EF4-FFF2-40B4-BE49-F238E27FC236}">
                <a16:creationId xmlns:a16="http://schemas.microsoft.com/office/drawing/2014/main" id="{313094A5-685E-1038-6329-E9A0697401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5027461"/>
              </p:ext>
            </p:extLst>
          </p:nvPr>
        </p:nvGraphicFramePr>
        <p:xfrm>
          <a:off x="5525583" y="5582583"/>
          <a:ext cx="2082801" cy="888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1">
                  <a:extLst>
                    <a:ext uri="{9D8B030D-6E8A-4147-A177-3AD203B41FA5}">
                      <a16:colId xmlns:a16="http://schemas.microsoft.com/office/drawing/2014/main" val="2252721451"/>
                    </a:ext>
                  </a:extLst>
                </a:gridCol>
              </a:tblGrid>
              <a:tr h="256294">
                <a:tc>
                  <a:txBody>
                    <a:bodyPr/>
                    <a:lstStyle/>
                    <a:p>
                      <a:r>
                        <a:rPr lang="pt-BR" sz="1200" b="1" dirty="0" err="1"/>
                        <a:t>tipo_cartao</a:t>
                      </a:r>
                      <a:endParaRPr lang="pt-BR" sz="12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7503110"/>
                  </a:ext>
                </a:extLst>
              </a:tr>
              <a:tr h="307164">
                <a:tc>
                  <a:txBody>
                    <a:bodyPr/>
                    <a:lstStyle/>
                    <a:p>
                      <a:r>
                        <a:rPr lang="pt-BR" sz="1200" b="1" dirty="0" err="1"/>
                        <a:t>cod_tipo_ct</a:t>
                      </a:r>
                      <a:r>
                        <a:rPr lang="pt-BR" sz="1200" b="1" dirty="0"/>
                        <a:t>: Número(4)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1657282"/>
                  </a:ext>
                </a:extLst>
              </a:tr>
              <a:tr h="30716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1" dirty="0" err="1"/>
                        <a:t>debito_credito</a:t>
                      </a:r>
                      <a:r>
                        <a:rPr lang="pt-BR" sz="1200" b="1" dirty="0"/>
                        <a:t>: varchar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8102375"/>
                  </a:ext>
                </a:extLst>
              </a:tr>
            </a:tbl>
          </a:graphicData>
        </a:graphic>
      </p:graphicFrame>
      <p:graphicFrame>
        <p:nvGraphicFramePr>
          <p:cNvPr id="13" name="Tabela 12">
            <a:extLst>
              <a:ext uri="{FF2B5EF4-FFF2-40B4-BE49-F238E27FC236}">
                <a16:creationId xmlns:a16="http://schemas.microsoft.com/office/drawing/2014/main" id="{9DD2655E-F965-E0ED-3ACD-7D77FE0D36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7668234"/>
              </p:ext>
            </p:extLst>
          </p:nvPr>
        </p:nvGraphicFramePr>
        <p:xfrm>
          <a:off x="2661169" y="3528301"/>
          <a:ext cx="198419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4190">
                  <a:extLst>
                    <a:ext uri="{9D8B030D-6E8A-4147-A177-3AD203B41FA5}">
                      <a16:colId xmlns:a16="http://schemas.microsoft.com/office/drawing/2014/main" val="2252721451"/>
                    </a:ext>
                  </a:extLst>
                </a:gridCol>
              </a:tblGrid>
              <a:tr h="183265">
                <a:tc>
                  <a:txBody>
                    <a:bodyPr/>
                    <a:lstStyle/>
                    <a:p>
                      <a:r>
                        <a:rPr lang="pt-BR" sz="1200" b="1" i="0" dirty="0"/>
                        <a:t>nota-fiscal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7503110"/>
                  </a:ext>
                </a:extLst>
              </a:tr>
              <a:tr h="270222">
                <a:tc>
                  <a:txBody>
                    <a:bodyPr/>
                    <a:lstStyle/>
                    <a:p>
                      <a:r>
                        <a:rPr lang="pt-BR" sz="1200" b="1" i="0" dirty="0" err="1"/>
                        <a:t>cod_nota</a:t>
                      </a:r>
                      <a:r>
                        <a:rPr lang="pt-BR" sz="1200" b="1" i="0" dirty="0"/>
                        <a:t>-fiscal: Número(4)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1657282"/>
                  </a:ext>
                </a:extLst>
              </a:tr>
              <a:tr h="27022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1" i="0" dirty="0" err="1"/>
                        <a:t>cod_pag</a:t>
                      </a:r>
                      <a:r>
                        <a:rPr lang="pt-BR" sz="1200" b="1" i="0" dirty="0"/>
                        <a:t>: Número(4)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8102375"/>
                  </a:ext>
                </a:extLst>
              </a:tr>
              <a:tr h="270222">
                <a:tc>
                  <a:txBody>
                    <a:bodyPr/>
                    <a:lstStyle/>
                    <a:p>
                      <a:r>
                        <a:rPr lang="pt-BR" sz="1200" b="1" i="0" dirty="0" err="1"/>
                        <a:t>icms</a:t>
                      </a:r>
                      <a:r>
                        <a:rPr lang="pt-BR" sz="1200" b="1" i="0" dirty="0"/>
                        <a:t>: Número(12)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2949377"/>
                  </a:ext>
                </a:extLst>
              </a:tr>
              <a:tr h="270222">
                <a:tc>
                  <a:txBody>
                    <a:bodyPr/>
                    <a:lstStyle/>
                    <a:p>
                      <a:r>
                        <a:rPr lang="pt-BR" sz="1200" b="1" i="0" dirty="0" err="1"/>
                        <a:t>nfs_e</a:t>
                      </a:r>
                      <a:r>
                        <a:rPr lang="pt-BR" sz="1200" b="1" i="0" dirty="0"/>
                        <a:t>: Número(12)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2667237"/>
                  </a:ext>
                </a:extLst>
              </a:tr>
              <a:tr h="270222">
                <a:tc>
                  <a:txBody>
                    <a:bodyPr/>
                    <a:lstStyle/>
                    <a:p>
                      <a:r>
                        <a:rPr lang="pt-BR" sz="1200" b="1" i="0" dirty="0" err="1"/>
                        <a:t>data_emissao</a:t>
                      </a:r>
                      <a:r>
                        <a:rPr lang="pt-BR" sz="1200" b="1" i="0" dirty="0"/>
                        <a:t>: date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9517879"/>
                  </a:ext>
                </a:extLst>
              </a:tr>
            </a:tbl>
          </a:graphicData>
        </a:graphic>
      </p:graphicFrame>
      <p:graphicFrame>
        <p:nvGraphicFramePr>
          <p:cNvPr id="14" name="Tabela 13">
            <a:extLst>
              <a:ext uri="{FF2B5EF4-FFF2-40B4-BE49-F238E27FC236}">
                <a16:creationId xmlns:a16="http://schemas.microsoft.com/office/drawing/2014/main" id="{8F7939ED-CFD7-84FB-6B38-D8E582DCC0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1283803"/>
              </p:ext>
            </p:extLst>
          </p:nvPr>
        </p:nvGraphicFramePr>
        <p:xfrm>
          <a:off x="2624824" y="2125013"/>
          <a:ext cx="1903508" cy="1243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3508">
                  <a:extLst>
                    <a:ext uri="{9D8B030D-6E8A-4147-A177-3AD203B41FA5}">
                      <a16:colId xmlns:a16="http://schemas.microsoft.com/office/drawing/2014/main" val="2252721451"/>
                    </a:ext>
                  </a:extLst>
                </a:gridCol>
              </a:tblGrid>
              <a:tr h="310950">
                <a:tc>
                  <a:txBody>
                    <a:bodyPr/>
                    <a:lstStyle/>
                    <a:p>
                      <a:r>
                        <a:rPr lang="pt-BR" sz="1200" b="1" dirty="0" err="1"/>
                        <a:t>usuario</a:t>
                      </a:r>
                      <a:endParaRPr lang="pt-BR" sz="12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7503110"/>
                  </a:ext>
                </a:extLst>
              </a:tr>
              <a:tr h="310950">
                <a:tc>
                  <a:txBody>
                    <a:bodyPr/>
                    <a:lstStyle/>
                    <a:p>
                      <a:r>
                        <a:rPr lang="pt-BR" sz="1200" b="1" dirty="0" err="1"/>
                        <a:t>cod_usuario</a:t>
                      </a:r>
                      <a:r>
                        <a:rPr lang="pt-BR" sz="1200" b="1" dirty="0"/>
                        <a:t>: Número(4)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1657282"/>
                  </a:ext>
                </a:extLst>
              </a:tr>
              <a:tr h="310950">
                <a:tc>
                  <a:txBody>
                    <a:bodyPr/>
                    <a:lstStyle/>
                    <a:p>
                      <a:r>
                        <a:rPr lang="pt-BR" sz="1200" b="1" dirty="0" err="1"/>
                        <a:t>nome_usuario</a:t>
                      </a:r>
                      <a:r>
                        <a:rPr lang="pt-BR" sz="1200" b="1" dirty="0"/>
                        <a:t>: Número(4)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2949377"/>
                  </a:ext>
                </a:extLst>
              </a:tr>
              <a:tr h="310950">
                <a:tc>
                  <a:txBody>
                    <a:bodyPr/>
                    <a:lstStyle/>
                    <a:p>
                      <a:r>
                        <a:rPr lang="pt-BR" sz="1200" b="1" dirty="0"/>
                        <a:t>senha: Número(9)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2667237"/>
                  </a:ext>
                </a:extLst>
              </a:tr>
            </a:tbl>
          </a:graphicData>
        </a:graphic>
      </p:graphicFrame>
      <p:graphicFrame>
        <p:nvGraphicFramePr>
          <p:cNvPr id="15" name="Tabela 14">
            <a:extLst>
              <a:ext uri="{FF2B5EF4-FFF2-40B4-BE49-F238E27FC236}">
                <a16:creationId xmlns:a16="http://schemas.microsoft.com/office/drawing/2014/main" id="{3202C31E-282C-AF8A-A542-FB812933D3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7535167"/>
              </p:ext>
            </p:extLst>
          </p:nvPr>
        </p:nvGraphicFramePr>
        <p:xfrm>
          <a:off x="5059168" y="1628153"/>
          <a:ext cx="198419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4190">
                  <a:extLst>
                    <a:ext uri="{9D8B030D-6E8A-4147-A177-3AD203B41FA5}">
                      <a16:colId xmlns:a16="http://schemas.microsoft.com/office/drawing/2014/main" val="2252721451"/>
                    </a:ext>
                  </a:extLst>
                </a:gridCol>
              </a:tblGrid>
              <a:tr h="270222">
                <a:tc>
                  <a:txBody>
                    <a:bodyPr/>
                    <a:lstStyle/>
                    <a:p>
                      <a:r>
                        <a:rPr lang="pt-BR" sz="1200" b="1" i="0" dirty="0"/>
                        <a:t>produto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7503110"/>
                  </a:ext>
                </a:extLst>
              </a:tr>
              <a:tr h="270222">
                <a:tc>
                  <a:txBody>
                    <a:bodyPr/>
                    <a:lstStyle/>
                    <a:p>
                      <a:r>
                        <a:rPr lang="pt-BR" sz="1200" b="1" i="0" dirty="0" err="1"/>
                        <a:t>cod_produto</a:t>
                      </a:r>
                      <a:r>
                        <a:rPr lang="pt-BR" sz="1200" b="1" i="0" dirty="0"/>
                        <a:t>: Número(4)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1657282"/>
                  </a:ext>
                </a:extLst>
              </a:tr>
              <a:tr h="27022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1" i="0" dirty="0" err="1"/>
                        <a:t>cod_notificacao</a:t>
                      </a:r>
                      <a:r>
                        <a:rPr lang="pt-BR" sz="1200" b="1" i="0" dirty="0"/>
                        <a:t>: Número(4)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8102375"/>
                  </a:ext>
                </a:extLst>
              </a:tr>
              <a:tr h="270222">
                <a:tc>
                  <a:txBody>
                    <a:bodyPr/>
                    <a:lstStyle/>
                    <a:p>
                      <a:r>
                        <a:rPr lang="pt-BR" sz="1200" b="1" i="0" dirty="0" err="1"/>
                        <a:t>cod_categoria</a:t>
                      </a:r>
                      <a:r>
                        <a:rPr lang="pt-BR" sz="1200" b="1" i="0" dirty="0"/>
                        <a:t>: Número(4)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2949377"/>
                  </a:ext>
                </a:extLst>
              </a:tr>
              <a:tr h="270222">
                <a:tc>
                  <a:txBody>
                    <a:bodyPr/>
                    <a:lstStyle/>
                    <a:p>
                      <a:r>
                        <a:rPr lang="pt-BR" sz="1200" b="1" i="0" dirty="0" err="1"/>
                        <a:t>cod_validade</a:t>
                      </a:r>
                      <a:r>
                        <a:rPr lang="pt-BR" sz="1200" b="1" i="0" dirty="0"/>
                        <a:t>: Número(4)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2667237"/>
                  </a:ext>
                </a:extLst>
              </a:tr>
              <a:tr h="270222">
                <a:tc>
                  <a:txBody>
                    <a:bodyPr/>
                    <a:lstStyle/>
                    <a:p>
                      <a:r>
                        <a:rPr lang="pt-BR" sz="1200" b="1" i="0" dirty="0" err="1"/>
                        <a:t>cod_conservacao</a:t>
                      </a:r>
                      <a:r>
                        <a:rPr lang="pt-BR" sz="1200" b="1" i="0" dirty="0"/>
                        <a:t>: varchar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9517879"/>
                  </a:ext>
                </a:extLst>
              </a:tr>
              <a:tr h="270222">
                <a:tc>
                  <a:txBody>
                    <a:bodyPr/>
                    <a:lstStyle/>
                    <a:p>
                      <a:r>
                        <a:rPr lang="pt-BR" sz="1200" b="1" i="0" dirty="0" err="1"/>
                        <a:t>cod_usuario</a:t>
                      </a:r>
                      <a:r>
                        <a:rPr lang="pt-BR" sz="1200" b="1" i="0" dirty="0"/>
                        <a:t>: varchar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5903544"/>
                  </a:ext>
                </a:extLst>
              </a:tr>
              <a:tr h="270222">
                <a:tc>
                  <a:txBody>
                    <a:bodyPr/>
                    <a:lstStyle/>
                    <a:p>
                      <a:r>
                        <a:rPr lang="pt-BR" sz="1200" b="1" i="0" dirty="0"/>
                        <a:t>lote: Número(12)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1056660"/>
                  </a:ext>
                </a:extLst>
              </a:tr>
              <a:tr h="270222">
                <a:tc>
                  <a:txBody>
                    <a:bodyPr/>
                    <a:lstStyle/>
                    <a:p>
                      <a:r>
                        <a:rPr lang="pt-BR" sz="1200" b="1" i="0" dirty="0" err="1"/>
                        <a:t>nome_produto</a:t>
                      </a:r>
                      <a:r>
                        <a:rPr lang="pt-BR" sz="1200" b="1" i="0" dirty="0"/>
                        <a:t>: varchar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9139365"/>
                  </a:ext>
                </a:extLst>
              </a:tr>
              <a:tr h="270222">
                <a:tc>
                  <a:txBody>
                    <a:bodyPr/>
                    <a:lstStyle/>
                    <a:p>
                      <a:r>
                        <a:rPr lang="pt-BR" sz="1200" b="1" i="0" dirty="0"/>
                        <a:t>fornecedor: varchar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793275"/>
                  </a:ext>
                </a:extLst>
              </a:tr>
            </a:tbl>
          </a:graphicData>
        </a:graphic>
      </p:graphicFrame>
      <p:graphicFrame>
        <p:nvGraphicFramePr>
          <p:cNvPr id="16" name="Tabela 15">
            <a:extLst>
              <a:ext uri="{FF2B5EF4-FFF2-40B4-BE49-F238E27FC236}">
                <a16:creationId xmlns:a16="http://schemas.microsoft.com/office/drawing/2014/main" id="{8FABD46C-E6CA-D120-C0B7-E75426099E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7868645"/>
              </p:ext>
            </p:extLst>
          </p:nvPr>
        </p:nvGraphicFramePr>
        <p:xfrm>
          <a:off x="7817425" y="4607900"/>
          <a:ext cx="2082801" cy="11958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1">
                  <a:extLst>
                    <a:ext uri="{9D8B030D-6E8A-4147-A177-3AD203B41FA5}">
                      <a16:colId xmlns:a16="http://schemas.microsoft.com/office/drawing/2014/main" val="2252721451"/>
                    </a:ext>
                  </a:extLst>
                </a:gridCol>
              </a:tblGrid>
              <a:tr h="255934">
                <a:tc>
                  <a:txBody>
                    <a:bodyPr/>
                    <a:lstStyle/>
                    <a:p>
                      <a:r>
                        <a:rPr lang="pt-BR" sz="1200" b="1" dirty="0"/>
                        <a:t>validade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7503110"/>
                  </a:ext>
                </a:extLst>
              </a:tr>
              <a:tr h="307164">
                <a:tc>
                  <a:txBody>
                    <a:bodyPr/>
                    <a:lstStyle/>
                    <a:p>
                      <a:r>
                        <a:rPr lang="pt-BR" sz="1200" b="1" dirty="0" err="1"/>
                        <a:t>cod_validade</a:t>
                      </a:r>
                      <a:r>
                        <a:rPr lang="pt-BR" sz="1200" b="1" dirty="0"/>
                        <a:t>: Número(4)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1657282"/>
                  </a:ext>
                </a:extLst>
              </a:tr>
              <a:tr h="30716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1" dirty="0" err="1"/>
                        <a:t>debito_credito</a:t>
                      </a:r>
                      <a:r>
                        <a:rPr lang="pt-BR" sz="1200" b="1" dirty="0"/>
                        <a:t>: varchar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8102375"/>
                  </a:ext>
                </a:extLst>
              </a:tr>
              <a:tr h="30716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1" dirty="0" err="1"/>
                        <a:t>data_validade</a:t>
                      </a:r>
                      <a:r>
                        <a:rPr lang="pt-BR" sz="1200" b="1" dirty="0"/>
                        <a:t>: date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6459203"/>
                  </a:ext>
                </a:extLst>
              </a:tr>
            </a:tbl>
          </a:graphicData>
        </a:graphic>
      </p:graphicFrame>
      <p:graphicFrame>
        <p:nvGraphicFramePr>
          <p:cNvPr id="18" name="Tabela 17">
            <a:extLst>
              <a:ext uri="{FF2B5EF4-FFF2-40B4-BE49-F238E27FC236}">
                <a16:creationId xmlns:a16="http://schemas.microsoft.com/office/drawing/2014/main" id="{7DBBD4A8-68B9-4F2F-6B41-D584378596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2753831"/>
              </p:ext>
            </p:extLst>
          </p:nvPr>
        </p:nvGraphicFramePr>
        <p:xfrm>
          <a:off x="7679781" y="1523899"/>
          <a:ext cx="2354148" cy="888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54148">
                  <a:extLst>
                    <a:ext uri="{9D8B030D-6E8A-4147-A177-3AD203B41FA5}">
                      <a16:colId xmlns:a16="http://schemas.microsoft.com/office/drawing/2014/main" val="2252721451"/>
                    </a:ext>
                  </a:extLst>
                </a:gridCol>
              </a:tblGrid>
              <a:tr h="228945">
                <a:tc>
                  <a:txBody>
                    <a:bodyPr/>
                    <a:lstStyle/>
                    <a:p>
                      <a:r>
                        <a:rPr lang="pt-BR" sz="1200" b="1" dirty="0" err="1"/>
                        <a:t>notificacao</a:t>
                      </a:r>
                      <a:endParaRPr lang="pt-BR" sz="12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7503110"/>
                  </a:ext>
                </a:extLst>
              </a:tr>
              <a:tr h="307164">
                <a:tc>
                  <a:txBody>
                    <a:bodyPr/>
                    <a:lstStyle/>
                    <a:p>
                      <a:r>
                        <a:rPr lang="pt-BR" sz="1200" b="1" dirty="0" err="1"/>
                        <a:t>cod_notificacao</a:t>
                      </a:r>
                      <a:r>
                        <a:rPr lang="pt-BR" sz="1200" b="1" dirty="0"/>
                        <a:t>: Número(4)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1657282"/>
                  </a:ext>
                </a:extLst>
              </a:tr>
              <a:tr h="30716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1" dirty="0" err="1"/>
                        <a:t>resultado_notificacao</a:t>
                      </a:r>
                      <a:r>
                        <a:rPr lang="pt-BR" sz="1200" b="1" dirty="0"/>
                        <a:t>: Número(4)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8102375"/>
                  </a:ext>
                </a:extLst>
              </a:tr>
            </a:tbl>
          </a:graphicData>
        </a:graphic>
      </p:graphicFrame>
      <p:graphicFrame>
        <p:nvGraphicFramePr>
          <p:cNvPr id="19" name="Tabela 18">
            <a:extLst>
              <a:ext uri="{FF2B5EF4-FFF2-40B4-BE49-F238E27FC236}">
                <a16:creationId xmlns:a16="http://schemas.microsoft.com/office/drawing/2014/main" id="{2C3743D4-0A19-F8FC-8BBC-840BFAC1CD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299459"/>
              </p:ext>
            </p:extLst>
          </p:nvPr>
        </p:nvGraphicFramePr>
        <p:xfrm>
          <a:off x="7998117" y="2623195"/>
          <a:ext cx="2111636" cy="888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11636">
                  <a:extLst>
                    <a:ext uri="{9D8B030D-6E8A-4147-A177-3AD203B41FA5}">
                      <a16:colId xmlns:a16="http://schemas.microsoft.com/office/drawing/2014/main" val="2252721451"/>
                    </a:ext>
                  </a:extLst>
                </a:gridCol>
              </a:tblGrid>
              <a:tr h="256294">
                <a:tc>
                  <a:txBody>
                    <a:bodyPr/>
                    <a:lstStyle/>
                    <a:p>
                      <a:r>
                        <a:rPr lang="pt-BR" sz="1200" b="1" dirty="0" err="1"/>
                        <a:t>conservacao</a:t>
                      </a:r>
                      <a:endParaRPr lang="pt-BR" sz="12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7503110"/>
                  </a:ext>
                </a:extLst>
              </a:tr>
              <a:tr h="307164">
                <a:tc>
                  <a:txBody>
                    <a:bodyPr/>
                    <a:lstStyle/>
                    <a:p>
                      <a:r>
                        <a:rPr lang="pt-BR" sz="1200" b="1" dirty="0" err="1"/>
                        <a:t>cod_conservacao</a:t>
                      </a:r>
                      <a:r>
                        <a:rPr lang="pt-BR" sz="1200" b="1" dirty="0"/>
                        <a:t>: Número(4)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1657282"/>
                  </a:ext>
                </a:extLst>
              </a:tr>
              <a:tr h="30716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1" dirty="0" err="1"/>
                        <a:t>desc_conservacao</a:t>
                      </a:r>
                      <a:r>
                        <a:rPr lang="pt-BR" sz="1200" b="1" dirty="0"/>
                        <a:t>: varchar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8102375"/>
                  </a:ext>
                </a:extLst>
              </a:tr>
            </a:tbl>
          </a:graphicData>
        </a:graphic>
      </p:graphicFrame>
      <p:graphicFrame>
        <p:nvGraphicFramePr>
          <p:cNvPr id="20" name="Tabela 19">
            <a:extLst>
              <a:ext uri="{FF2B5EF4-FFF2-40B4-BE49-F238E27FC236}">
                <a16:creationId xmlns:a16="http://schemas.microsoft.com/office/drawing/2014/main" id="{A717077A-A06B-3A80-D7F5-EB0EA10720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7736908"/>
              </p:ext>
            </p:extLst>
          </p:nvPr>
        </p:nvGraphicFramePr>
        <p:xfrm>
          <a:off x="7957722" y="3612127"/>
          <a:ext cx="2471275" cy="888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71275">
                  <a:extLst>
                    <a:ext uri="{9D8B030D-6E8A-4147-A177-3AD203B41FA5}">
                      <a16:colId xmlns:a16="http://schemas.microsoft.com/office/drawing/2014/main" val="225272145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pt-BR" sz="1200" b="1" dirty="0"/>
                        <a:t>Categoria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7503110"/>
                  </a:ext>
                </a:extLst>
              </a:tr>
              <a:tr h="307164">
                <a:tc>
                  <a:txBody>
                    <a:bodyPr/>
                    <a:lstStyle/>
                    <a:p>
                      <a:r>
                        <a:rPr lang="pt-BR" sz="1200" b="1" dirty="0" err="1"/>
                        <a:t>cod_categoria</a:t>
                      </a:r>
                      <a:r>
                        <a:rPr lang="pt-BR" sz="1200" b="1" dirty="0"/>
                        <a:t>: Número(4)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1657282"/>
                  </a:ext>
                </a:extLst>
              </a:tr>
              <a:tr h="30716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1" dirty="0" err="1"/>
                        <a:t>categoria_produto</a:t>
                      </a:r>
                      <a:r>
                        <a:rPr lang="pt-BR" sz="1200" b="1" dirty="0"/>
                        <a:t>: varchar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8102375"/>
                  </a:ext>
                </a:extLst>
              </a:tr>
            </a:tbl>
          </a:graphicData>
        </a:graphic>
      </p:graphicFrame>
      <p:graphicFrame>
        <p:nvGraphicFramePr>
          <p:cNvPr id="21" name="Tabela 20">
            <a:extLst>
              <a:ext uri="{FF2B5EF4-FFF2-40B4-BE49-F238E27FC236}">
                <a16:creationId xmlns:a16="http://schemas.microsoft.com/office/drawing/2014/main" id="{FC2420E7-4750-F999-751A-8559A2CFEC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9138160"/>
              </p:ext>
            </p:extLst>
          </p:nvPr>
        </p:nvGraphicFramePr>
        <p:xfrm>
          <a:off x="2419345" y="71717"/>
          <a:ext cx="2170209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0209">
                  <a:extLst>
                    <a:ext uri="{9D8B030D-6E8A-4147-A177-3AD203B41FA5}">
                      <a16:colId xmlns:a16="http://schemas.microsoft.com/office/drawing/2014/main" val="2252721451"/>
                    </a:ext>
                  </a:extLst>
                </a:gridCol>
              </a:tblGrid>
              <a:tr h="270222">
                <a:tc>
                  <a:txBody>
                    <a:bodyPr/>
                    <a:lstStyle/>
                    <a:p>
                      <a:r>
                        <a:rPr lang="pt-BR" sz="1200" b="1" i="0" dirty="0" err="1"/>
                        <a:t>Endereco</a:t>
                      </a:r>
                      <a:endParaRPr lang="pt-BR" sz="1200" b="1" i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7503110"/>
                  </a:ext>
                </a:extLst>
              </a:tr>
              <a:tr h="270222">
                <a:tc>
                  <a:txBody>
                    <a:bodyPr/>
                    <a:lstStyle/>
                    <a:p>
                      <a:r>
                        <a:rPr lang="pt-BR" sz="1200" b="1" i="0" dirty="0" err="1"/>
                        <a:t>cod_endereco</a:t>
                      </a:r>
                      <a:r>
                        <a:rPr lang="pt-BR" sz="1200" b="1" i="0" dirty="0"/>
                        <a:t>: Número(14)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1657282"/>
                  </a:ext>
                </a:extLst>
              </a:tr>
              <a:tr h="27022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1" i="0" dirty="0" err="1"/>
                        <a:t>cod_bairro</a:t>
                      </a:r>
                      <a:r>
                        <a:rPr lang="pt-BR" sz="1200" b="1" i="0" dirty="0"/>
                        <a:t>: Número(4)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8102375"/>
                  </a:ext>
                </a:extLst>
              </a:tr>
              <a:tr h="270222">
                <a:tc>
                  <a:txBody>
                    <a:bodyPr/>
                    <a:lstStyle/>
                    <a:p>
                      <a:r>
                        <a:rPr lang="pt-BR" sz="1200" b="1" i="0" dirty="0" err="1"/>
                        <a:t>numero_casa</a:t>
                      </a:r>
                      <a:r>
                        <a:rPr lang="pt-BR" sz="1200" b="1" i="0" dirty="0"/>
                        <a:t>: Número(10)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2949377"/>
                  </a:ext>
                </a:extLst>
              </a:tr>
              <a:tr h="270222">
                <a:tc>
                  <a:txBody>
                    <a:bodyPr/>
                    <a:lstStyle/>
                    <a:p>
                      <a:r>
                        <a:rPr lang="pt-BR" sz="1200" b="1" i="0" dirty="0"/>
                        <a:t>complemento: Número(4)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2667237"/>
                  </a:ext>
                </a:extLst>
              </a:tr>
              <a:tr h="270222">
                <a:tc>
                  <a:txBody>
                    <a:bodyPr/>
                    <a:lstStyle/>
                    <a:p>
                      <a:r>
                        <a:rPr lang="pt-BR" sz="1200" b="1" i="0" dirty="0"/>
                        <a:t>logradouro: varchar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9517879"/>
                  </a:ext>
                </a:extLst>
              </a:tr>
            </a:tbl>
          </a:graphicData>
        </a:graphic>
      </p:graphicFrame>
      <p:graphicFrame>
        <p:nvGraphicFramePr>
          <p:cNvPr id="22" name="Tabela 21">
            <a:extLst>
              <a:ext uri="{FF2B5EF4-FFF2-40B4-BE49-F238E27FC236}">
                <a16:creationId xmlns:a16="http://schemas.microsoft.com/office/drawing/2014/main" id="{D5A4C234-E12C-0C12-1119-DABA269082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8965698"/>
              </p:ext>
            </p:extLst>
          </p:nvPr>
        </p:nvGraphicFramePr>
        <p:xfrm>
          <a:off x="5264246" y="84389"/>
          <a:ext cx="1831789" cy="1243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31789">
                  <a:extLst>
                    <a:ext uri="{9D8B030D-6E8A-4147-A177-3AD203B41FA5}">
                      <a16:colId xmlns:a16="http://schemas.microsoft.com/office/drawing/2014/main" val="2252721451"/>
                    </a:ext>
                  </a:extLst>
                </a:gridCol>
              </a:tblGrid>
              <a:tr h="310950">
                <a:tc>
                  <a:txBody>
                    <a:bodyPr/>
                    <a:lstStyle/>
                    <a:p>
                      <a:r>
                        <a:rPr lang="pt-BR" sz="1200" b="1" dirty="0"/>
                        <a:t>Bairro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7503110"/>
                  </a:ext>
                </a:extLst>
              </a:tr>
              <a:tr h="310950">
                <a:tc>
                  <a:txBody>
                    <a:bodyPr/>
                    <a:lstStyle/>
                    <a:p>
                      <a:r>
                        <a:rPr lang="pt-BR" sz="1200" b="1" dirty="0" err="1"/>
                        <a:t>cod_bairro</a:t>
                      </a:r>
                      <a:r>
                        <a:rPr lang="pt-BR" sz="1200" b="1" dirty="0"/>
                        <a:t>: Número(4)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1657282"/>
                  </a:ext>
                </a:extLst>
              </a:tr>
              <a:tr h="310950">
                <a:tc>
                  <a:txBody>
                    <a:bodyPr/>
                    <a:lstStyle/>
                    <a:p>
                      <a:r>
                        <a:rPr lang="pt-BR" sz="1200" b="1" dirty="0" err="1"/>
                        <a:t>cod_cidade</a:t>
                      </a:r>
                      <a:r>
                        <a:rPr lang="pt-BR" sz="1200" b="1" dirty="0"/>
                        <a:t>: Número(4)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2949377"/>
                  </a:ext>
                </a:extLst>
              </a:tr>
              <a:tr h="310950">
                <a:tc>
                  <a:txBody>
                    <a:bodyPr/>
                    <a:lstStyle/>
                    <a:p>
                      <a:r>
                        <a:rPr lang="pt-BR" sz="1200" b="1" dirty="0" err="1"/>
                        <a:t>nome_bairro</a:t>
                      </a:r>
                      <a:r>
                        <a:rPr lang="pt-BR" sz="1200" b="1" dirty="0"/>
                        <a:t>: varchar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2667237"/>
                  </a:ext>
                </a:extLst>
              </a:tr>
            </a:tbl>
          </a:graphicData>
        </a:graphic>
      </p:graphicFrame>
      <p:graphicFrame>
        <p:nvGraphicFramePr>
          <p:cNvPr id="23" name="Tabela 22">
            <a:extLst>
              <a:ext uri="{FF2B5EF4-FFF2-40B4-BE49-F238E27FC236}">
                <a16:creationId xmlns:a16="http://schemas.microsoft.com/office/drawing/2014/main" id="{4A5FD19E-92F5-8377-55EC-5C9BEEEBF7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1664732"/>
              </p:ext>
            </p:extLst>
          </p:nvPr>
        </p:nvGraphicFramePr>
        <p:xfrm>
          <a:off x="7866533" y="69451"/>
          <a:ext cx="1831789" cy="1243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31789">
                  <a:extLst>
                    <a:ext uri="{9D8B030D-6E8A-4147-A177-3AD203B41FA5}">
                      <a16:colId xmlns:a16="http://schemas.microsoft.com/office/drawing/2014/main" val="2252721451"/>
                    </a:ext>
                  </a:extLst>
                </a:gridCol>
              </a:tblGrid>
              <a:tr h="310950">
                <a:tc>
                  <a:txBody>
                    <a:bodyPr/>
                    <a:lstStyle/>
                    <a:p>
                      <a:r>
                        <a:rPr lang="pt-BR" sz="1200" b="1" dirty="0"/>
                        <a:t>cidade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7503110"/>
                  </a:ext>
                </a:extLst>
              </a:tr>
              <a:tr h="310950">
                <a:tc>
                  <a:txBody>
                    <a:bodyPr/>
                    <a:lstStyle/>
                    <a:p>
                      <a:r>
                        <a:rPr lang="pt-BR" sz="1200" b="1" dirty="0" err="1"/>
                        <a:t>cod_bairro</a:t>
                      </a:r>
                      <a:r>
                        <a:rPr lang="pt-BR" sz="1200" b="1" dirty="0"/>
                        <a:t>: Número(4)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1657282"/>
                  </a:ext>
                </a:extLst>
              </a:tr>
              <a:tr h="310950">
                <a:tc>
                  <a:txBody>
                    <a:bodyPr/>
                    <a:lstStyle/>
                    <a:p>
                      <a:r>
                        <a:rPr lang="pt-BR" sz="1200" b="1" dirty="0" err="1"/>
                        <a:t>cod_cidade</a:t>
                      </a:r>
                      <a:r>
                        <a:rPr lang="pt-BR" sz="1200" b="1" dirty="0"/>
                        <a:t>: Número(4)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2949377"/>
                  </a:ext>
                </a:extLst>
              </a:tr>
              <a:tr h="310950">
                <a:tc>
                  <a:txBody>
                    <a:bodyPr/>
                    <a:lstStyle/>
                    <a:p>
                      <a:r>
                        <a:rPr lang="pt-BR" sz="1200" b="1" dirty="0" err="1"/>
                        <a:t>nome_bairro</a:t>
                      </a:r>
                      <a:r>
                        <a:rPr lang="pt-BR" sz="1200" b="1" dirty="0"/>
                        <a:t>: varchar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2667237"/>
                  </a:ext>
                </a:extLst>
              </a:tr>
            </a:tbl>
          </a:graphicData>
        </a:graphic>
      </p:graphicFrame>
      <p:graphicFrame>
        <p:nvGraphicFramePr>
          <p:cNvPr id="24" name="Tabela 23">
            <a:extLst>
              <a:ext uri="{FF2B5EF4-FFF2-40B4-BE49-F238E27FC236}">
                <a16:creationId xmlns:a16="http://schemas.microsoft.com/office/drawing/2014/main" id="{A37AAB7B-BE17-DB11-0CC1-0DC6E9F3FC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8920597"/>
              </p:ext>
            </p:extLst>
          </p:nvPr>
        </p:nvGraphicFramePr>
        <p:xfrm>
          <a:off x="10318806" y="76920"/>
          <a:ext cx="1831789" cy="1243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31789">
                  <a:extLst>
                    <a:ext uri="{9D8B030D-6E8A-4147-A177-3AD203B41FA5}">
                      <a16:colId xmlns:a16="http://schemas.microsoft.com/office/drawing/2014/main" val="2252721451"/>
                    </a:ext>
                  </a:extLst>
                </a:gridCol>
              </a:tblGrid>
              <a:tr h="310950">
                <a:tc>
                  <a:txBody>
                    <a:bodyPr/>
                    <a:lstStyle/>
                    <a:p>
                      <a:r>
                        <a:rPr lang="pt-BR" sz="1200" b="1" dirty="0"/>
                        <a:t>Estado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7503110"/>
                  </a:ext>
                </a:extLst>
              </a:tr>
              <a:tr h="310950">
                <a:tc>
                  <a:txBody>
                    <a:bodyPr/>
                    <a:lstStyle/>
                    <a:p>
                      <a:r>
                        <a:rPr lang="pt-BR" sz="1200" b="1" dirty="0" err="1"/>
                        <a:t>cod_estado</a:t>
                      </a:r>
                      <a:r>
                        <a:rPr lang="pt-BR" sz="1200" b="1" dirty="0"/>
                        <a:t>: Número(4)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1657282"/>
                  </a:ext>
                </a:extLst>
              </a:tr>
              <a:tr h="310950">
                <a:tc>
                  <a:txBody>
                    <a:bodyPr/>
                    <a:lstStyle/>
                    <a:p>
                      <a:r>
                        <a:rPr lang="pt-BR" sz="1200" b="1" dirty="0" err="1"/>
                        <a:t>cod_pais</a:t>
                      </a:r>
                      <a:r>
                        <a:rPr lang="pt-BR" sz="1200" b="1" dirty="0"/>
                        <a:t>: Número(4)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2949377"/>
                  </a:ext>
                </a:extLst>
              </a:tr>
              <a:tr h="310950">
                <a:tc>
                  <a:txBody>
                    <a:bodyPr/>
                    <a:lstStyle/>
                    <a:p>
                      <a:r>
                        <a:rPr lang="pt-BR" sz="1200" b="1" dirty="0" err="1"/>
                        <a:t>nome_estado</a:t>
                      </a:r>
                      <a:r>
                        <a:rPr lang="pt-BR" sz="1200" b="1" dirty="0"/>
                        <a:t>: varchar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2667237"/>
                  </a:ext>
                </a:extLst>
              </a:tr>
            </a:tbl>
          </a:graphicData>
        </a:graphic>
      </p:graphicFrame>
      <p:graphicFrame>
        <p:nvGraphicFramePr>
          <p:cNvPr id="25" name="Tabela 24">
            <a:extLst>
              <a:ext uri="{FF2B5EF4-FFF2-40B4-BE49-F238E27FC236}">
                <a16:creationId xmlns:a16="http://schemas.microsoft.com/office/drawing/2014/main" id="{DBF1D1EE-2579-393C-BE51-237C5520BB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1932670"/>
              </p:ext>
            </p:extLst>
          </p:nvPr>
        </p:nvGraphicFramePr>
        <p:xfrm>
          <a:off x="10294483" y="1986490"/>
          <a:ext cx="1831789" cy="9328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31789">
                  <a:extLst>
                    <a:ext uri="{9D8B030D-6E8A-4147-A177-3AD203B41FA5}">
                      <a16:colId xmlns:a16="http://schemas.microsoft.com/office/drawing/2014/main" val="2252721451"/>
                    </a:ext>
                  </a:extLst>
                </a:gridCol>
              </a:tblGrid>
              <a:tr h="310950">
                <a:tc>
                  <a:txBody>
                    <a:bodyPr/>
                    <a:lstStyle/>
                    <a:p>
                      <a:r>
                        <a:rPr lang="pt-BR" sz="1200" b="1" dirty="0"/>
                        <a:t>Pais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7503110"/>
                  </a:ext>
                </a:extLst>
              </a:tr>
              <a:tr h="310950">
                <a:tc>
                  <a:txBody>
                    <a:bodyPr/>
                    <a:lstStyle/>
                    <a:p>
                      <a:r>
                        <a:rPr lang="pt-BR" sz="1200" b="1" dirty="0" err="1"/>
                        <a:t>cod_pais</a:t>
                      </a:r>
                      <a:r>
                        <a:rPr lang="pt-BR" sz="1200" b="1" dirty="0"/>
                        <a:t>: Número(4)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1657282"/>
                  </a:ext>
                </a:extLst>
              </a:tr>
              <a:tr h="310950">
                <a:tc>
                  <a:txBody>
                    <a:bodyPr/>
                    <a:lstStyle/>
                    <a:p>
                      <a:r>
                        <a:rPr lang="pt-BR" sz="1200" b="1" dirty="0" err="1"/>
                        <a:t>nome_pais</a:t>
                      </a:r>
                      <a:r>
                        <a:rPr lang="pt-BR" sz="1200" b="1" dirty="0"/>
                        <a:t>: Número(4)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2949377"/>
                  </a:ext>
                </a:extLst>
              </a:tr>
            </a:tbl>
          </a:graphicData>
        </a:graphic>
      </p:graphicFrame>
      <p:cxnSp>
        <p:nvCxnSpPr>
          <p:cNvPr id="27" name="Conector reto 26">
            <a:extLst>
              <a:ext uri="{FF2B5EF4-FFF2-40B4-BE49-F238E27FC236}">
                <a16:creationId xmlns:a16="http://schemas.microsoft.com/office/drawing/2014/main" id="{41002BE3-BED1-0C74-63A7-2904ABF928CD}"/>
              </a:ext>
            </a:extLst>
          </p:cNvPr>
          <p:cNvCxnSpPr>
            <a:cxnSpLocks/>
            <a:stCxn id="4" idx="2"/>
            <a:endCxn id="7" idx="0"/>
          </p:cNvCxnSpPr>
          <p:nvPr/>
        </p:nvCxnSpPr>
        <p:spPr>
          <a:xfrm flipH="1">
            <a:off x="1041020" y="1328189"/>
            <a:ext cx="6727" cy="29424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53776D29-8161-D6F2-7651-E7F0FCA0989F}"/>
              </a:ext>
            </a:extLst>
          </p:cNvPr>
          <p:cNvSpPr txBox="1"/>
          <p:nvPr/>
        </p:nvSpPr>
        <p:spPr>
          <a:xfrm>
            <a:off x="961352" y="3411306"/>
            <a:ext cx="506870" cy="2975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baseline="-25000" dirty="0"/>
              <a:t>(1,n)</a:t>
            </a:r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A64AFA26-FFEB-2FE7-B4EC-4726D3D20E86}"/>
              </a:ext>
            </a:extLst>
          </p:cNvPr>
          <p:cNvSpPr txBox="1"/>
          <p:nvPr/>
        </p:nvSpPr>
        <p:spPr>
          <a:xfrm>
            <a:off x="457687" y="1346118"/>
            <a:ext cx="503665" cy="2975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aseline="-25000" dirty="0"/>
              <a:t>(1,1)</a:t>
            </a:r>
          </a:p>
        </p:txBody>
      </p: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3A7E729B-F4C4-56F8-2540-22F6818C1DEC}"/>
              </a:ext>
            </a:extLst>
          </p:cNvPr>
          <p:cNvSpPr txBox="1"/>
          <p:nvPr/>
        </p:nvSpPr>
        <p:spPr>
          <a:xfrm>
            <a:off x="492833" y="3544321"/>
            <a:ext cx="503664" cy="2975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baseline="-25000" dirty="0"/>
              <a:t>(1,1)</a:t>
            </a:r>
          </a:p>
        </p:txBody>
      </p:sp>
      <p:cxnSp>
        <p:nvCxnSpPr>
          <p:cNvPr id="38" name="Conector reto 37">
            <a:extLst>
              <a:ext uri="{FF2B5EF4-FFF2-40B4-BE49-F238E27FC236}">
                <a16:creationId xmlns:a16="http://schemas.microsoft.com/office/drawing/2014/main" id="{84CCAD1A-1437-221C-4D42-245ED81772FA}"/>
              </a:ext>
            </a:extLst>
          </p:cNvPr>
          <p:cNvCxnSpPr>
            <a:cxnSpLocks/>
          </p:cNvCxnSpPr>
          <p:nvPr/>
        </p:nvCxnSpPr>
        <p:spPr>
          <a:xfrm flipH="1">
            <a:off x="996497" y="3579081"/>
            <a:ext cx="6727" cy="29424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CaixaDeTexto 40">
            <a:extLst>
              <a:ext uri="{FF2B5EF4-FFF2-40B4-BE49-F238E27FC236}">
                <a16:creationId xmlns:a16="http://schemas.microsoft.com/office/drawing/2014/main" id="{D98D3D69-2D5A-91E0-FEF0-CBC9156C0D81}"/>
              </a:ext>
            </a:extLst>
          </p:cNvPr>
          <p:cNvSpPr txBox="1"/>
          <p:nvPr/>
        </p:nvSpPr>
        <p:spPr>
          <a:xfrm>
            <a:off x="1023580" y="1203283"/>
            <a:ext cx="503665" cy="2975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aseline="-25000" dirty="0"/>
              <a:t>(1,1)</a:t>
            </a:r>
          </a:p>
        </p:txBody>
      </p:sp>
      <p:cxnSp>
        <p:nvCxnSpPr>
          <p:cNvPr id="43" name="Conector reto 42">
            <a:extLst>
              <a:ext uri="{FF2B5EF4-FFF2-40B4-BE49-F238E27FC236}">
                <a16:creationId xmlns:a16="http://schemas.microsoft.com/office/drawing/2014/main" id="{6BBCEFA5-A973-B756-64D0-5CB9F4053530}"/>
              </a:ext>
            </a:extLst>
          </p:cNvPr>
          <p:cNvCxnSpPr>
            <a:endCxn id="9" idx="0"/>
          </p:cNvCxnSpPr>
          <p:nvPr/>
        </p:nvCxnSpPr>
        <p:spPr>
          <a:xfrm>
            <a:off x="1145986" y="5376300"/>
            <a:ext cx="0" cy="29845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4" name="CaixaDeTexto 43">
            <a:extLst>
              <a:ext uri="{FF2B5EF4-FFF2-40B4-BE49-F238E27FC236}">
                <a16:creationId xmlns:a16="http://schemas.microsoft.com/office/drawing/2014/main" id="{356E9E1A-4A80-4631-B839-172A7848AE4C}"/>
              </a:ext>
            </a:extLst>
          </p:cNvPr>
          <p:cNvSpPr txBox="1"/>
          <p:nvPr/>
        </p:nvSpPr>
        <p:spPr>
          <a:xfrm>
            <a:off x="1203144" y="5392041"/>
            <a:ext cx="503664" cy="2975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baseline="-25000" dirty="0"/>
              <a:t>(1,1)</a:t>
            </a:r>
          </a:p>
        </p:txBody>
      </p:sp>
      <p:sp>
        <p:nvSpPr>
          <p:cNvPr id="45" name="CaixaDeTexto 44">
            <a:extLst>
              <a:ext uri="{FF2B5EF4-FFF2-40B4-BE49-F238E27FC236}">
                <a16:creationId xmlns:a16="http://schemas.microsoft.com/office/drawing/2014/main" id="{8ACD7677-219B-1BD6-4C3A-5672914CEAE0}"/>
              </a:ext>
            </a:extLst>
          </p:cNvPr>
          <p:cNvSpPr txBox="1"/>
          <p:nvPr/>
        </p:nvSpPr>
        <p:spPr>
          <a:xfrm>
            <a:off x="2500334" y="5581597"/>
            <a:ext cx="503664" cy="2975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baseline="-25000" dirty="0"/>
              <a:t>(0,1)</a:t>
            </a:r>
          </a:p>
        </p:txBody>
      </p:sp>
      <p:cxnSp>
        <p:nvCxnSpPr>
          <p:cNvPr id="47" name="Conector reto 46">
            <a:extLst>
              <a:ext uri="{FF2B5EF4-FFF2-40B4-BE49-F238E27FC236}">
                <a16:creationId xmlns:a16="http://schemas.microsoft.com/office/drawing/2014/main" id="{2AC5E84F-1708-73E9-AC27-A484C605FDA3}"/>
              </a:ext>
            </a:extLst>
          </p:cNvPr>
          <p:cNvCxnSpPr>
            <a:cxnSpLocks/>
            <a:stCxn id="9" idx="3"/>
            <a:endCxn id="11" idx="1"/>
          </p:cNvCxnSpPr>
          <p:nvPr/>
        </p:nvCxnSpPr>
        <p:spPr>
          <a:xfrm flipV="1">
            <a:off x="2187387" y="6034795"/>
            <a:ext cx="751543" cy="8428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CaixaDeTexto 50">
            <a:extLst>
              <a:ext uri="{FF2B5EF4-FFF2-40B4-BE49-F238E27FC236}">
                <a16:creationId xmlns:a16="http://schemas.microsoft.com/office/drawing/2014/main" id="{56F376D7-D1D3-96BA-7D8C-83E522D4C08B}"/>
              </a:ext>
            </a:extLst>
          </p:cNvPr>
          <p:cNvSpPr txBox="1"/>
          <p:nvPr/>
        </p:nvSpPr>
        <p:spPr>
          <a:xfrm>
            <a:off x="2121160" y="5779420"/>
            <a:ext cx="503664" cy="2975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baseline="-25000" dirty="0"/>
              <a:t>(1,1)</a:t>
            </a:r>
          </a:p>
        </p:txBody>
      </p:sp>
      <p:sp>
        <p:nvSpPr>
          <p:cNvPr id="52" name="CaixaDeTexto 51">
            <a:extLst>
              <a:ext uri="{FF2B5EF4-FFF2-40B4-BE49-F238E27FC236}">
                <a16:creationId xmlns:a16="http://schemas.microsoft.com/office/drawing/2014/main" id="{BDA82C9B-66A7-B729-91F8-D977FE2E4836}"/>
              </a:ext>
            </a:extLst>
          </p:cNvPr>
          <p:cNvSpPr txBox="1"/>
          <p:nvPr/>
        </p:nvSpPr>
        <p:spPr>
          <a:xfrm>
            <a:off x="642322" y="5243283"/>
            <a:ext cx="503664" cy="2975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baseline="-25000" dirty="0"/>
              <a:t>(1,1)</a:t>
            </a:r>
          </a:p>
        </p:txBody>
      </p:sp>
      <p:sp>
        <p:nvSpPr>
          <p:cNvPr id="54" name="CaixaDeTexto 53">
            <a:extLst>
              <a:ext uri="{FF2B5EF4-FFF2-40B4-BE49-F238E27FC236}">
                <a16:creationId xmlns:a16="http://schemas.microsoft.com/office/drawing/2014/main" id="{C19EA26A-B0D1-E00B-8535-074B5952EC04}"/>
              </a:ext>
            </a:extLst>
          </p:cNvPr>
          <p:cNvSpPr txBox="1"/>
          <p:nvPr/>
        </p:nvSpPr>
        <p:spPr>
          <a:xfrm>
            <a:off x="4705650" y="5581597"/>
            <a:ext cx="503664" cy="2975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baseline="-25000" dirty="0"/>
              <a:t>(1,1)</a:t>
            </a:r>
          </a:p>
        </p:txBody>
      </p:sp>
      <p:cxnSp>
        <p:nvCxnSpPr>
          <p:cNvPr id="56" name="Conector reto 55">
            <a:extLst>
              <a:ext uri="{FF2B5EF4-FFF2-40B4-BE49-F238E27FC236}">
                <a16:creationId xmlns:a16="http://schemas.microsoft.com/office/drawing/2014/main" id="{561B577B-669D-FA9D-0F15-1972969ECE1F}"/>
              </a:ext>
            </a:extLst>
          </p:cNvPr>
          <p:cNvCxnSpPr>
            <a:cxnSpLocks/>
            <a:stCxn id="11" idx="3"/>
            <a:endCxn id="12" idx="1"/>
          </p:cNvCxnSpPr>
          <p:nvPr/>
        </p:nvCxnSpPr>
        <p:spPr>
          <a:xfrm flipV="1">
            <a:off x="4770718" y="6026907"/>
            <a:ext cx="754865" cy="788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0" name="CaixaDeTexto 59">
            <a:extLst>
              <a:ext uri="{FF2B5EF4-FFF2-40B4-BE49-F238E27FC236}">
                <a16:creationId xmlns:a16="http://schemas.microsoft.com/office/drawing/2014/main" id="{48B3230F-7CE9-1A8B-C4B5-19FDAD1CC32D}"/>
              </a:ext>
            </a:extLst>
          </p:cNvPr>
          <p:cNvSpPr txBox="1"/>
          <p:nvPr/>
        </p:nvSpPr>
        <p:spPr>
          <a:xfrm>
            <a:off x="5115617" y="5689558"/>
            <a:ext cx="503664" cy="2975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baseline="-25000" dirty="0"/>
              <a:t>(1,1)</a:t>
            </a:r>
          </a:p>
        </p:txBody>
      </p:sp>
      <p:cxnSp>
        <p:nvCxnSpPr>
          <p:cNvPr id="62" name="Conector reto 61">
            <a:extLst>
              <a:ext uri="{FF2B5EF4-FFF2-40B4-BE49-F238E27FC236}">
                <a16:creationId xmlns:a16="http://schemas.microsoft.com/office/drawing/2014/main" id="{6BC48CBB-AB10-4F5B-A68B-7132C9D5C62F}"/>
              </a:ext>
            </a:extLst>
          </p:cNvPr>
          <p:cNvCxnSpPr>
            <a:cxnSpLocks/>
            <a:endCxn id="16" idx="1"/>
          </p:cNvCxnSpPr>
          <p:nvPr/>
        </p:nvCxnSpPr>
        <p:spPr>
          <a:xfrm>
            <a:off x="6669741" y="4371353"/>
            <a:ext cx="1147684" cy="83445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CaixaDeTexto 63">
            <a:extLst>
              <a:ext uri="{FF2B5EF4-FFF2-40B4-BE49-F238E27FC236}">
                <a16:creationId xmlns:a16="http://schemas.microsoft.com/office/drawing/2014/main" id="{BBE756EC-B5EB-EA09-92BD-68F4DFAE02FA}"/>
              </a:ext>
            </a:extLst>
          </p:cNvPr>
          <p:cNvSpPr txBox="1"/>
          <p:nvPr/>
        </p:nvSpPr>
        <p:spPr>
          <a:xfrm>
            <a:off x="5979560" y="4276195"/>
            <a:ext cx="503664" cy="2975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baseline="-25000" dirty="0"/>
              <a:t>(1,1)</a:t>
            </a:r>
          </a:p>
        </p:txBody>
      </p:sp>
      <p:sp>
        <p:nvSpPr>
          <p:cNvPr id="65" name="CaixaDeTexto 64">
            <a:extLst>
              <a:ext uri="{FF2B5EF4-FFF2-40B4-BE49-F238E27FC236}">
                <a16:creationId xmlns:a16="http://schemas.microsoft.com/office/drawing/2014/main" id="{0D9307A4-B702-203E-3C27-C50466FAC2D7}"/>
              </a:ext>
            </a:extLst>
          </p:cNvPr>
          <p:cNvSpPr txBox="1"/>
          <p:nvPr/>
        </p:nvSpPr>
        <p:spPr>
          <a:xfrm>
            <a:off x="7356552" y="4694425"/>
            <a:ext cx="503664" cy="2975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baseline="-25000" dirty="0"/>
              <a:t>(1,1)</a:t>
            </a:r>
          </a:p>
        </p:txBody>
      </p:sp>
      <p:cxnSp>
        <p:nvCxnSpPr>
          <p:cNvPr id="66" name="Conector reto 65">
            <a:extLst>
              <a:ext uri="{FF2B5EF4-FFF2-40B4-BE49-F238E27FC236}">
                <a16:creationId xmlns:a16="http://schemas.microsoft.com/office/drawing/2014/main" id="{FBBA0DC7-A71F-ACF1-F197-D38A6043ACA5}"/>
              </a:ext>
            </a:extLst>
          </p:cNvPr>
          <p:cNvCxnSpPr>
            <a:cxnSpLocks/>
            <a:endCxn id="13" idx="1"/>
          </p:cNvCxnSpPr>
          <p:nvPr/>
        </p:nvCxnSpPr>
        <p:spPr>
          <a:xfrm flipV="1">
            <a:off x="1973604" y="4351261"/>
            <a:ext cx="687565" cy="35715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CaixaDeTexto 67">
            <a:extLst>
              <a:ext uri="{FF2B5EF4-FFF2-40B4-BE49-F238E27FC236}">
                <a16:creationId xmlns:a16="http://schemas.microsoft.com/office/drawing/2014/main" id="{4B1CE4B1-1311-2581-4C78-1D351C43AF2D}"/>
              </a:ext>
            </a:extLst>
          </p:cNvPr>
          <p:cNvSpPr txBox="1"/>
          <p:nvPr/>
        </p:nvSpPr>
        <p:spPr>
          <a:xfrm>
            <a:off x="1890918" y="4232321"/>
            <a:ext cx="503664" cy="2975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baseline="-25000" dirty="0"/>
              <a:t>(1,1)</a:t>
            </a:r>
          </a:p>
        </p:txBody>
      </p:sp>
      <p:sp>
        <p:nvSpPr>
          <p:cNvPr id="69" name="CaixaDeTexto 68">
            <a:extLst>
              <a:ext uri="{FF2B5EF4-FFF2-40B4-BE49-F238E27FC236}">
                <a16:creationId xmlns:a16="http://schemas.microsoft.com/office/drawing/2014/main" id="{5F7ED666-73AE-E42A-8138-D8A90B25A775}"/>
              </a:ext>
            </a:extLst>
          </p:cNvPr>
          <p:cNvSpPr txBox="1"/>
          <p:nvPr/>
        </p:nvSpPr>
        <p:spPr>
          <a:xfrm>
            <a:off x="2240243" y="4001411"/>
            <a:ext cx="506870" cy="2975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baseline="-25000" dirty="0"/>
              <a:t>(1,n)</a:t>
            </a:r>
          </a:p>
        </p:txBody>
      </p:sp>
      <p:sp>
        <p:nvSpPr>
          <p:cNvPr id="70" name="CaixaDeTexto 69">
            <a:extLst>
              <a:ext uri="{FF2B5EF4-FFF2-40B4-BE49-F238E27FC236}">
                <a16:creationId xmlns:a16="http://schemas.microsoft.com/office/drawing/2014/main" id="{82779C47-DE2D-A950-4177-1FD94DA25AA3}"/>
              </a:ext>
            </a:extLst>
          </p:cNvPr>
          <p:cNvSpPr txBox="1"/>
          <p:nvPr/>
        </p:nvSpPr>
        <p:spPr>
          <a:xfrm>
            <a:off x="1897517" y="2456037"/>
            <a:ext cx="511614" cy="2975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aseline="-25000" dirty="0"/>
              <a:t>(1,n)</a:t>
            </a:r>
          </a:p>
        </p:txBody>
      </p:sp>
      <p:cxnSp>
        <p:nvCxnSpPr>
          <p:cNvPr id="71" name="Conector reto 70">
            <a:extLst>
              <a:ext uri="{FF2B5EF4-FFF2-40B4-BE49-F238E27FC236}">
                <a16:creationId xmlns:a16="http://schemas.microsoft.com/office/drawing/2014/main" id="{338A3161-EEF3-2EDC-CE0F-A586A122F0FE}"/>
              </a:ext>
            </a:extLst>
          </p:cNvPr>
          <p:cNvCxnSpPr>
            <a:cxnSpLocks/>
            <a:endCxn id="14" idx="1"/>
          </p:cNvCxnSpPr>
          <p:nvPr/>
        </p:nvCxnSpPr>
        <p:spPr>
          <a:xfrm flipV="1">
            <a:off x="1953949" y="2746913"/>
            <a:ext cx="670875" cy="12510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4" name="CaixaDeTexto 73">
            <a:extLst>
              <a:ext uri="{FF2B5EF4-FFF2-40B4-BE49-F238E27FC236}">
                <a16:creationId xmlns:a16="http://schemas.microsoft.com/office/drawing/2014/main" id="{593716C6-D394-5C32-610B-C48760D577EA}"/>
              </a:ext>
            </a:extLst>
          </p:cNvPr>
          <p:cNvSpPr txBox="1"/>
          <p:nvPr/>
        </p:nvSpPr>
        <p:spPr>
          <a:xfrm>
            <a:off x="2189032" y="2734719"/>
            <a:ext cx="503664" cy="2975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baseline="-25000" dirty="0"/>
              <a:t>(1,1)</a:t>
            </a:r>
          </a:p>
        </p:txBody>
      </p:sp>
      <p:cxnSp>
        <p:nvCxnSpPr>
          <p:cNvPr id="76" name="Conector reto 75">
            <a:extLst>
              <a:ext uri="{FF2B5EF4-FFF2-40B4-BE49-F238E27FC236}">
                <a16:creationId xmlns:a16="http://schemas.microsoft.com/office/drawing/2014/main" id="{DDD52E77-29F4-6612-8ECF-4B12864B8A53}"/>
              </a:ext>
            </a:extLst>
          </p:cNvPr>
          <p:cNvCxnSpPr>
            <a:cxnSpLocks/>
          </p:cNvCxnSpPr>
          <p:nvPr/>
        </p:nvCxnSpPr>
        <p:spPr>
          <a:xfrm flipV="1">
            <a:off x="1992774" y="1666919"/>
            <a:ext cx="413765" cy="46473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CaixaDeTexto 78">
            <a:extLst>
              <a:ext uri="{FF2B5EF4-FFF2-40B4-BE49-F238E27FC236}">
                <a16:creationId xmlns:a16="http://schemas.microsoft.com/office/drawing/2014/main" id="{18F656BC-16D5-3F20-AD0A-477D46100FDD}"/>
              </a:ext>
            </a:extLst>
          </p:cNvPr>
          <p:cNvSpPr txBox="1"/>
          <p:nvPr/>
        </p:nvSpPr>
        <p:spPr>
          <a:xfrm>
            <a:off x="1959284" y="1945619"/>
            <a:ext cx="511614" cy="2975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aseline="-25000" dirty="0"/>
              <a:t>(1,n)</a:t>
            </a:r>
          </a:p>
        </p:txBody>
      </p:sp>
      <p:sp>
        <p:nvSpPr>
          <p:cNvPr id="80" name="CaixaDeTexto 79">
            <a:extLst>
              <a:ext uri="{FF2B5EF4-FFF2-40B4-BE49-F238E27FC236}">
                <a16:creationId xmlns:a16="http://schemas.microsoft.com/office/drawing/2014/main" id="{E073EE8E-3711-68FD-B33F-6AB434F09148}"/>
              </a:ext>
            </a:extLst>
          </p:cNvPr>
          <p:cNvSpPr txBox="1"/>
          <p:nvPr/>
        </p:nvSpPr>
        <p:spPr>
          <a:xfrm>
            <a:off x="2367992" y="1604924"/>
            <a:ext cx="503664" cy="2975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baseline="-25000" dirty="0"/>
              <a:t>(1,1)</a:t>
            </a:r>
          </a:p>
        </p:txBody>
      </p:sp>
      <p:sp>
        <p:nvSpPr>
          <p:cNvPr id="84" name="CaixaDeTexto 83">
            <a:extLst>
              <a:ext uri="{FF2B5EF4-FFF2-40B4-BE49-F238E27FC236}">
                <a16:creationId xmlns:a16="http://schemas.microsoft.com/office/drawing/2014/main" id="{2294AD1A-6130-0A90-65C9-6C0A4D2E3495}"/>
              </a:ext>
            </a:extLst>
          </p:cNvPr>
          <p:cNvSpPr txBox="1"/>
          <p:nvPr/>
        </p:nvSpPr>
        <p:spPr>
          <a:xfrm>
            <a:off x="4533643" y="465005"/>
            <a:ext cx="511614" cy="2975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aseline="-25000" dirty="0"/>
              <a:t>(1,n)</a:t>
            </a:r>
          </a:p>
        </p:txBody>
      </p:sp>
      <p:cxnSp>
        <p:nvCxnSpPr>
          <p:cNvPr id="86" name="Conector reto 85">
            <a:extLst>
              <a:ext uri="{FF2B5EF4-FFF2-40B4-BE49-F238E27FC236}">
                <a16:creationId xmlns:a16="http://schemas.microsoft.com/office/drawing/2014/main" id="{BDD3FD79-1808-1049-40BC-51CC2BBA3592}"/>
              </a:ext>
            </a:extLst>
          </p:cNvPr>
          <p:cNvCxnSpPr>
            <a:cxnSpLocks/>
            <a:stCxn id="21" idx="3"/>
            <a:endCxn id="22" idx="1"/>
          </p:cNvCxnSpPr>
          <p:nvPr/>
        </p:nvCxnSpPr>
        <p:spPr>
          <a:xfrm flipV="1">
            <a:off x="4589554" y="706289"/>
            <a:ext cx="674692" cy="1883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CaixaDeTexto 88">
            <a:extLst>
              <a:ext uri="{FF2B5EF4-FFF2-40B4-BE49-F238E27FC236}">
                <a16:creationId xmlns:a16="http://schemas.microsoft.com/office/drawing/2014/main" id="{E5AD9E92-1DDE-7AEE-A566-66EF9DF4031D}"/>
              </a:ext>
            </a:extLst>
          </p:cNvPr>
          <p:cNvSpPr txBox="1"/>
          <p:nvPr/>
        </p:nvSpPr>
        <p:spPr>
          <a:xfrm>
            <a:off x="4820468" y="699936"/>
            <a:ext cx="503664" cy="2975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baseline="-25000" dirty="0"/>
              <a:t>(1,1)</a:t>
            </a:r>
          </a:p>
        </p:txBody>
      </p:sp>
      <p:cxnSp>
        <p:nvCxnSpPr>
          <p:cNvPr id="91" name="Conector reto 90">
            <a:extLst>
              <a:ext uri="{FF2B5EF4-FFF2-40B4-BE49-F238E27FC236}">
                <a16:creationId xmlns:a16="http://schemas.microsoft.com/office/drawing/2014/main" id="{34E8AE48-BBAA-6011-A797-071C8051DE20}"/>
              </a:ext>
            </a:extLst>
          </p:cNvPr>
          <p:cNvCxnSpPr>
            <a:cxnSpLocks/>
            <a:stCxn id="22" idx="3"/>
            <a:endCxn id="23" idx="1"/>
          </p:cNvCxnSpPr>
          <p:nvPr/>
        </p:nvCxnSpPr>
        <p:spPr>
          <a:xfrm flipV="1">
            <a:off x="7096035" y="691351"/>
            <a:ext cx="770498" cy="1493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CaixaDeTexto 93">
            <a:extLst>
              <a:ext uri="{FF2B5EF4-FFF2-40B4-BE49-F238E27FC236}">
                <a16:creationId xmlns:a16="http://schemas.microsoft.com/office/drawing/2014/main" id="{5ED68FA5-BF76-4CAA-6DA0-7F0FD9ED863F}"/>
              </a:ext>
            </a:extLst>
          </p:cNvPr>
          <p:cNvSpPr txBox="1"/>
          <p:nvPr/>
        </p:nvSpPr>
        <p:spPr>
          <a:xfrm>
            <a:off x="7017511" y="393834"/>
            <a:ext cx="511614" cy="2975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aseline="-25000" dirty="0"/>
              <a:t>(1,n)</a:t>
            </a:r>
          </a:p>
        </p:txBody>
      </p:sp>
      <p:sp>
        <p:nvSpPr>
          <p:cNvPr id="96" name="CaixaDeTexto 95">
            <a:extLst>
              <a:ext uri="{FF2B5EF4-FFF2-40B4-BE49-F238E27FC236}">
                <a16:creationId xmlns:a16="http://schemas.microsoft.com/office/drawing/2014/main" id="{F7949E51-917C-CD1A-8CD4-6F2C94A651C7}"/>
              </a:ext>
            </a:extLst>
          </p:cNvPr>
          <p:cNvSpPr txBox="1"/>
          <p:nvPr/>
        </p:nvSpPr>
        <p:spPr>
          <a:xfrm>
            <a:off x="7454058" y="386769"/>
            <a:ext cx="503664" cy="2975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baseline="-25000" dirty="0"/>
              <a:t>(1,1)</a:t>
            </a:r>
          </a:p>
        </p:txBody>
      </p:sp>
      <p:sp>
        <p:nvSpPr>
          <p:cNvPr id="97" name="CaixaDeTexto 96">
            <a:extLst>
              <a:ext uri="{FF2B5EF4-FFF2-40B4-BE49-F238E27FC236}">
                <a16:creationId xmlns:a16="http://schemas.microsoft.com/office/drawing/2014/main" id="{A76777F2-353D-1FC9-3341-C819301EFD6B}"/>
              </a:ext>
            </a:extLst>
          </p:cNvPr>
          <p:cNvSpPr txBox="1"/>
          <p:nvPr/>
        </p:nvSpPr>
        <p:spPr>
          <a:xfrm>
            <a:off x="9640444" y="848694"/>
            <a:ext cx="511614" cy="2975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aseline="-25000" dirty="0"/>
              <a:t>(1,n)</a:t>
            </a:r>
          </a:p>
        </p:txBody>
      </p:sp>
      <p:sp>
        <p:nvSpPr>
          <p:cNvPr id="98" name="CaixaDeTexto 97">
            <a:extLst>
              <a:ext uri="{FF2B5EF4-FFF2-40B4-BE49-F238E27FC236}">
                <a16:creationId xmlns:a16="http://schemas.microsoft.com/office/drawing/2014/main" id="{0977ABC7-9FAE-5D8C-232D-D5AEAF490391}"/>
              </a:ext>
            </a:extLst>
          </p:cNvPr>
          <p:cNvSpPr txBox="1"/>
          <p:nvPr/>
        </p:nvSpPr>
        <p:spPr>
          <a:xfrm>
            <a:off x="9869350" y="455931"/>
            <a:ext cx="503664" cy="2975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baseline="-25000" dirty="0"/>
              <a:t>(1,1)</a:t>
            </a:r>
          </a:p>
        </p:txBody>
      </p:sp>
      <p:cxnSp>
        <p:nvCxnSpPr>
          <p:cNvPr id="100" name="Conector reto 99">
            <a:extLst>
              <a:ext uri="{FF2B5EF4-FFF2-40B4-BE49-F238E27FC236}">
                <a16:creationId xmlns:a16="http://schemas.microsoft.com/office/drawing/2014/main" id="{C643B0D4-2003-8BF4-196E-32B5226173CF}"/>
              </a:ext>
            </a:extLst>
          </p:cNvPr>
          <p:cNvCxnSpPr>
            <a:cxnSpLocks/>
          </p:cNvCxnSpPr>
          <p:nvPr/>
        </p:nvCxnSpPr>
        <p:spPr>
          <a:xfrm>
            <a:off x="9698322" y="800483"/>
            <a:ext cx="620483" cy="175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Conector reto 103">
            <a:extLst>
              <a:ext uri="{FF2B5EF4-FFF2-40B4-BE49-F238E27FC236}">
                <a16:creationId xmlns:a16="http://schemas.microsoft.com/office/drawing/2014/main" id="{855A0F14-C32E-45C8-5872-45298FF620AC}"/>
              </a:ext>
            </a:extLst>
          </p:cNvPr>
          <p:cNvCxnSpPr>
            <a:cxnSpLocks/>
            <a:endCxn id="15" idx="1"/>
          </p:cNvCxnSpPr>
          <p:nvPr/>
        </p:nvCxnSpPr>
        <p:spPr>
          <a:xfrm>
            <a:off x="4447366" y="2919520"/>
            <a:ext cx="611802" cy="8023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CaixaDeTexto 105">
            <a:extLst>
              <a:ext uri="{FF2B5EF4-FFF2-40B4-BE49-F238E27FC236}">
                <a16:creationId xmlns:a16="http://schemas.microsoft.com/office/drawing/2014/main" id="{81C0DB47-E143-098F-7281-3E2B71996917}"/>
              </a:ext>
            </a:extLst>
          </p:cNvPr>
          <p:cNvSpPr txBox="1"/>
          <p:nvPr/>
        </p:nvSpPr>
        <p:spPr>
          <a:xfrm>
            <a:off x="4460460" y="2571307"/>
            <a:ext cx="503664" cy="2975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baseline="-25000" dirty="0"/>
              <a:t>(1,1)</a:t>
            </a:r>
          </a:p>
        </p:txBody>
      </p:sp>
      <p:sp>
        <p:nvSpPr>
          <p:cNvPr id="109" name="CaixaDeTexto 108">
            <a:extLst>
              <a:ext uri="{FF2B5EF4-FFF2-40B4-BE49-F238E27FC236}">
                <a16:creationId xmlns:a16="http://schemas.microsoft.com/office/drawing/2014/main" id="{0A4C6FC1-DB88-6A1D-94E9-2A105667E4D8}"/>
              </a:ext>
            </a:extLst>
          </p:cNvPr>
          <p:cNvSpPr txBox="1"/>
          <p:nvPr/>
        </p:nvSpPr>
        <p:spPr>
          <a:xfrm>
            <a:off x="4684722" y="2876133"/>
            <a:ext cx="511614" cy="2975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aseline="-25000" dirty="0"/>
              <a:t>(1,n)</a:t>
            </a:r>
          </a:p>
        </p:txBody>
      </p:sp>
      <p:cxnSp>
        <p:nvCxnSpPr>
          <p:cNvPr id="111" name="Conector reto 110">
            <a:extLst>
              <a:ext uri="{FF2B5EF4-FFF2-40B4-BE49-F238E27FC236}">
                <a16:creationId xmlns:a16="http://schemas.microsoft.com/office/drawing/2014/main" id="{3CCD21EC-62C0-9A0F-0B4B-9E3514ED22CA}"/>
              </a:ext>
            </a:extLst>
          </p:cNvPr>
          <p:cNvCxnSpPr>
            <a:cxnSpLocks/>
            <a:endCxn id="20" idx="1"/>
          </p:cNvCxnSpPr>
          <p:nvPr/>
        </p:nvCxnSpPr>
        <p:spPr>
          <a:xfrm>
            <a:off x="7096035" y="4008509"/>
            <a:ext cx="861687" cy="4794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CaixaDeTexto 114">
            <a:extLst>
              <a:ext uri="{FF2B5EF4-FFF2-40B4-BE49-F238E27FC236}">
                <a16:creationId xmlns:a16="http://schemas.microsoft.com/office/drawing/2014/main" id="{3E96EF3E-A9D0-7294-FF3B-1063C08E457F}"/>
              </a:ext>
            </a:extLst>
          </p:cNvPr>
          <p:cNvSpPr txBox="1"/>
          <p:nvPr/>
        </p:nvSpPr>
        <p:spPr>
          <a:xfrm>
            <a:off x="7082687" y="3674584"/>
            <a:ext cx="511614" cy="2975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aseline="-25000" dirty="0"/>
              <a:t>(1,n)</a:t>
            </a:r>
          </a:p>
        </p:txBody>
      </p:sp>
      <p:sp>
        <p:nvSpPr>
          <p:cNvPr id="116" name="CaixaDeTexto 115">
            <a:extLst>
              <a:ext uri="{FF2B5EF4-FFF2-40B4-BE49-F238E27FC236}">
                <a16:creationId xmlns:a16="http://schemas.microsoft.com/office/drawing/2014/main" id="{A8F24133-AB96-720D-D773-569E3AFD1BC7}"/>
              </a:ext>
            </a:extLst>
          </p:cNvPr>
          <p:cNvSpPr txBox="1"/>
          <p:nvPr/>
        </p:nvSpPr>
        <p:spPr>
          <a:xfrm>
            <a:off x="7517180" y="3737201"/>
            <a:ext cx="511614" cy="2975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aseline="-25000" dirty="0"/>
              <a:t>(1,1)</a:t>
            </a:r>
          </a:p>
        </p:txBody>
      </p:sp>
      <p:cxnSp>
        <p:nvCxnSpPr>
          <p:cNvPr id="119" name="Conector reto 118">
            <a:extLst>
              <a:ext uri="{FF2B5EF4-FFF2-40B4-BE49-F238E27FC236}">
                <a16:creationId xmlns:a16="http://schemas.microsoft.com/office/drawing/2014/main" id="{21A42A3A-0B56-CF5F-0609-D68E96B15E34}"/>
              </a:ext>
            </a:extLst>
          </p:cNvPr>
          <p:cNvCxnSpPr>
            <a:cxnSpLocks/>
            <a:endCxn id="19" idx="1"/>
          </p:cNvCxnSpPr>
          <p:nvPr/>
        </p:nvCxnSpPr>
        <p:spPr>
          <a:xfrm flipV="1">
            <a:off x="7124324" y="3067519"/>
            <a:ext cx="873793" cy="11218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CaixaDeTexto 119">
            <a:extLst>
              <a:ext uri="{FF2B5EF4-FFF2-40B4-BE49-F238E27FC236}">
                <a16:creationId xmlns:a16="http://schemas.microsoft.com/office/drawing/2014/main" id="{B0077871-BF37-7FD0-81F3-AD00D3E47B23}"/>
              </a:ext>
            </a:extLst>
          </p:cNvPr>
          <p:cNvSpPr txBox="1"/>
          <p:nvPr/>
        </p:nvSpPr>
        <p:spPr>
          <a:xfrm>
            <a:off x="7053939" y="2810279"/>
            <a:ext cx="511614" cy="2975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aseline="-25000" dirty="0"/>
              <a:t>(1,n)</a:t>
            </a:r>
          </a:p>
        </p:txBody>
      </p:sp>
      <p:sp>
        <p:nvSpPr>
          <p:cNvPr id="122" name="CaixaDeTexto 121">
            <a:extLst>
              <a:ext uri="{FF2B5EF4-FFF2-40B4-BE49-F238E27FC236}">
                <a16:creationId xmlns:a16="http://schemas.microsoft.com/office/drawing/2014/main" id="{F9EA7373-CB9C-8D2B-BC64-901510844D6D}"/>
              </a:ext>
            </a:extLst>
          </p:cNvPr>
          <p:cNvSpPr txBox="1"/>
          <p:nvPr/>
        </p:nvSpPr>
        <p:spPr>
          <a:xfrm>
            <a:off x="7540401" y="2993781"/>
            <a:ext cx="511614" cy="2975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aseline="-25000" dirty="0"/>
              <a:t>(1,1)</a:t>
            </a:r>
          </a:p>
        </p:txBody>
      </p:sp>
      <p:sp>
        <p:nvSpPr>
          <p:cNvPr id="124" name="CaixaDeTexto 123">
            <a:extLst>
              <a:ext uri="{FF2B5EF4-FFF2-40B4-BE49-F238E27FC236}">
                <a16:creationId xmlns:a16="http://schemas.microsoft.com/office/drawing/2014/main" id="{1D18F9F9-E9EC-C8A4-F6A7-10E21FCA6A08}"/>
              </a:ext>
            </a:extLst>
          </p:cNvPr>
          <p:cNvSpPr txBox="1"/>
          <p:nvPr/>
        </p:nvSpPr>
        <p:spPr>
          <a:xfrm>
            <a:off x="6981676" y="1727441"/>
            <a:ext cx="503664" cy="2975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baseline="-25000" dirty="0"/>
              <a:t>(0,1)</a:t>
            </a:r>
          </a:p>
        </p:txBody>
      </p:sp>
      <p:cxnSp>
        <p:nvCxnSpPr>
          <p:cNvPr id="126" name="Conector reto 125">
            <a:extLst>
              <a:ext uri="{FF2B5EF4-FFF2-40B4-BE49-F238E27FC236}">
                <a16:creationId xmlns:a16="http://schemas.microsoft.com/office/drawing/2014/main" id="{36C33C4F-3CBD-564E-6B3C-304839F6272B}"/>
              </a:ext>
            </a:extLst>
          </p:cNvPr>
          <p:cNvCxnSpPr>
            <a:cxnSpLocks/>
            <a:endCxn id="18" idx="1"/>
          </p:cNvCxnSpPr>
          <p:nvPr/>
        </p:nvCxnSpPr>
        <p:spPr>
          <a:xfrm flipV="1">
            <a:off x="7017511" y="1968223"/>
            <a:ext cx="662270" cy="27491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" name="CaixaDeTexto 127">
            <a:extLst>
              <a:ext uri="{FF2B5EF4-FFF2-40B4-BE49-F238E27FC236}">
                <a16:creationId xmlns:a16="http://schemas.microsoft.com/office/drawing/2014/main" id="{C951E1C9-9FCA-973B-7F46-DDA58170173D}"/>
              </a:ext>
            </a:extLst>
          </p:cNvPr>
          <p:cNvSpPr txBox="1"/>
          <p:nvPr/>
        </p:nvSpPr>
        <p:spPr>
          <a:xfrm>
            <a:off x="7242355" y="1996486"/>
            <a:ext cx="503664" cy="2975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baseline="-25000" dirty="0"/>
              <a:t>(0,1)</a:t>
            </a:r>
          </a:p>
        </p:txBody>
      </p:sp>
      <p:sp>
        <p:nvSpPr>
          <p:cNvPr id="131" name="CaixaDeTexto 130">
            <a:extLst>
              <a:ext uri="{FF2B5EF4-FFF2-40B4-BE49-F238E27FC236}">
                <a16:creationId xmlns:a16="http://schemas.microsoft.com/office/drawing/2014/main" id="{DD87923E-7EB8-D683-2F18-6E4B5D4B8C41}"/>
              </a:ext>
            </a:extLst>
          </p:cNvPr>
          <p:cNvSpPr txBox="1"/>
          <p:nvPr/>
        </p:nvSpPr>
        <p:spPr>
          <a:xfrm>
            <a:off x="11234700" y="1253480"/>
            <a:ext cx="511614" cy="2975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aseline="-25000" dirty="0"/>
              <a:t>(1,n)</a:t>
            </a:r>
          </a:p>
        </p:txBody>
      </p:sp>
      <p:cxnSp>
        <p:nvCxnSpPr>
          <p:cNvPr id="132" name="Conector reto 131">
            <a:extLst>
              <a:ext uri="{FF2B5EF4-FFF2-40B4-BE49-F238E27FC236}">
                <a16:creationId xmlns:a16="http://schemas.microsoft.com/office/drawing/2014/main" id="{2DF92EBD-2654-8DBA-0D65-55C9E3AB1646}"/>
              </a:ext>
            </a:extLst>
          </p:cNvPr>
          <p:cNvCxnSpPr>
            <a:cxnSpLocks/>
            <a:stCxn id="24" idx="2"/>
            <a:endCxn id="25" idx="0"/>
          </p:cNvCxnSpPr>
          <p:nvPr/>
        </p:nvCxnSpPr>
        <p:spPr>
          <a:xfrm flipH="1">
            <a:off x="11210377" y="1320720"/>
            <a:ext cx="24323" cy="6657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" name="CaixaDeTexto 134">
            <a:extLst>
              <a:ext uri="{FF2B5EF4-FFF2-40B4-BE49-F238E27FC236}">
                <a16:creationId xmlns:a16="http://schemas.microsoft.com/office/drawing/2014/main" id="{7228648F-ACDF-B88A-DC4A-F1F65BBCFD09}"/>
              </a:ext>
            </a:extLst>
          </p:cNvPr>
          <p:cNvSpPr txBox="1"/>
          <p:nvPr/>
        </p:nvSpPr>
        <p:spPr>
          <a:xfrm>
            <a:off x="10748474" y="1665904"/>
            <a:ext cx="503664" cy="2975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baseline="-25000" dirty="0"/>
              <a:t>(1,1)</a:t>
            </a:r>
          </a:p>
        </p:txBody>
      </p:sp>
    </p:spTree>
    <p:extLst>
      <p:ext uri="{BB962C8B-B14F-4D97-AF65-F5344CB8AC3E}">
        <p14:creationId xmlns:p14="http://schemas.microsoft.com/office/powerpoint/2010/main" val="143620966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581</Words>
  <Application>Microsoft Office PowerPoint</Application>
  <PresentationFormat>Widescreen</PresentationFormat>
  <Paragraphs>115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Lucas Eduardo Lillo Espinoza</dc:creator>
  <cp:lastModifiedBy>Lucas Eduardo Lillo Espinoza</cp:lastModifiedBy>
  <cp:revision>1</cp:revision>
  <dcterms:created xsi:type="dcterms:W3CDTF">2025-10-31T18:27:41Z</dcterms:created>
  <dcterms:modified xsi:type="dcterms:W3CDTF">2025-10-31T18:30:13Z</dcterms:modified>
</cp:coreProperties>
</file>